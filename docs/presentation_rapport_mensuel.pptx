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262" r:id="rId2"/>
    <p:sldId id="263" r:id="rId3"/>
    <p:sldId id="259" r:id="rId4"/>
    <p:sldId id="257" r:id="rId5"/>
    <p:sldId id="258" r:id="rId6"/>
    <p:sldId id="261" r:id="rId7"/>
    <p:sldId id="260" r:id="rId8"/>
    <p:sldId id="264" r:id="rId9"/>
    <p:sldId id="265"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1100"/>
    <a:srgbClr val="4C72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51"/>
    <p:restoredTop sz="78860"/>
  </p:normalViewPr>
  <p:slideViewPr>
    <p:cSldViewPr snapToGrid="0">
      <p:cViewPr varScale="1">
        <p:scale>
          <a:sx n="115" d="100"/>
          <a:sy n="115" d="100"/>
        </p:scale>
        <p:origin x="2656" y="200"/>
      </p:cViewPr>
      <p:guideLst>
        <p:guide orient="horz" pos="2160"/>
        <p:guide pos="3840"/>
      </p:guideLst>
    </p:cSldViewPr>
  </p:slideViewPr>
  <p:notesTextViewPr>
    <p:cViewPr>
      <p:scale>
        <a:sx n="1" d="1"/>
        <a:sy n="1" d="1"/>
      </p:scale>
      <p:origin x="0" y="0"/>
    </p:cViewPr>
  </p:notesTextViewPr>
  <p:notesViewPr>
    <p:cSldViewPr snapToGrid="0">
      <p:cViewPr varScale="1">
        <p:scale>
          <a:sx n="118" d="100"/>
          <a:sy n="118" d="100"/>
        </p:scale>
        <p:origin x="516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80604A-DDA0-429C-BEF0-05672B0D2C96}"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053D4E85-56EB-4FA3-80DC-DFFB61B18287}">
      <dgm:prSet/>
      <dgm:spPr/>
      <dgm:t>
        <a:bodyPr/>
        <a:lstStyle/>
        <a:p>
          <a:r>
            <a:rPr lang="fr-FR" b="1" dirty="0"/>
            <a:t>La baisse du CA est dû à l'arrêt de l’High-Tech</a:t>
          </a:r>
          <a:endParaRPr lang="en-US" b="1" dirty="0"/>
        </a:p>
      </dgm:t>
    </dgm:pt>
    <dgm:pt modelId="{226BCA44-8C3B-4A96-917C-A40D7E5CE17F}" type="parTrans" cxnId="{8A35D22C-3125-4080-8650-9E4645FEACA2}">
      <dgm:prSet/>
      <dgm:spPr/>
      <dgm:t>
        <a:bodyPr/>
        <a:lstStyle/>
        <a:p>
          <a:endParaRPr lang="en-US"/>
        </a:p>
      </dgm:t>
    </dgm:pt>
    <dgm:pt modelId="{BA215F5C-0409-45E7-9EE3-458797EEFD65}" type="sibTrans" cxnId="{8A35D22C-3125-4080-8650-9E4645FEACA2}">
      <dgm:prSet/>
      <dgm:spPr/>
      <dgm:t>
        <a:bodyPr/>
        <a:lstStyle/>
        <a:p>
          <a:endParaRPr lang="en-US"/>
        </a:p>
      </dgm:t>
    </dgm:pt>
    <dgm:pt modelId="{DC49B5D6-A504-4622-9302-362D064A3F22}">
      <dgm:prSet/>
      <dgm:spPr/>
      <dgm:t>
        <a:bodyPr/>
        <a:lstStyle/>
        <a:p>
          <a:r>
            <a:rPr lang="fr-FR" b="1" dirty="0"/>
            <a:t>L’alimentaire, nouveau moteur de croissance, multiplie notre trafic par 30</a:t>
          </a:r>
          <a:endParaRPr lang="en-US" b="1" dirty="0"/>
        </a:p>
      </dgm:t>
    </dgm:pt>
    <dgm:pt modelId="{AFC5F779-945B-4ACD-A024-D17087A3E6E5}" type="parTrans" cxnId="{8CC340D0-9713-49CB-AE14-C3DB8DB681AB}">
      <dgm:prSet/>
      <dgm:spPr/>
      <dgm:t>
        <a:bodyPr/>
        <a:lstStyle/>
        <a:p>
          <a:endParaRPr lang="en-US"/>
        </a:p>
      </dgm:t>
    </dgm:pt>
    <dgm:pt modelId="{1D56B55C-0405-4A8D-9C1A-CF22E72571AA}" type="sibTrans" cxnId="{8CC340D0-9713-49CB-AE14-C3DB8DB681AB}">
      <dgm:prSet/>
      <dgm:spPr/>
      <dgm:t>
        <a:bodyPr/>
        <a:lstStyle/>
        <a:p>
          <a:endParaRPr lang="en-US"/>
        </a:p>
      </dgm:t>
    </dgm:pt>
    <dgm:pt modelId="{E98E949B-B378-456A-8C1E-29B0F8EA187D}">
      <dgm:prSet/>
      <dgm:spPr/>
      <dgm:t>
        <a:bodyPr/>
        <a:lstStyle/>
        <a:p>
          <a:r>
            <a:rPr lang="fr-FR" b="1" dirty="0"/>
            <a:t>À 5%, notre taux de transformation reste largement supérieur à la moyenne du marché (3%)</a:t>
          </a:r>
          <a:endParaRPr lang="en-US" b="1" dirty="0"/>
        </a:p>
      </dgm:t>
    </dgm:pt>
    <dgm:pt modelId="{78D96AB1-C2C8-4513-9DDC-37C7F1CDB8F9}" type="parTrans" cxnId="{D6BE09DE-AB92-4DAD-A67F-F50D4542DAD3}">
      <dgm:prSet/>
      <dgm:spPr/>
      <dgm:t>
        <a:bodyPr/>
        <a:lstStyle/>
        <a:p>
          <a:endParaRPr lang="en-US"/>
        </a:p>
      </dgm:t>
    </dgm:pt>
    <dgm:pt modelId="{760450FA-7055-45D7-BACB-AF0607ED1CA8}" type="sibTrans" cxnId="{D6BE09DE-AB92-4DAD-A67F-F50D4542DAD3}">
      <dgm:prSet/>
      <dgm:spPr/>
      <dgm:t>
        <a:bodyPr/>
        <a:lstStyle/>
        <a:p>
          <a:endParaRPr lang="en-US"/>
        </a:p>
      </dgm:t>
    </dgm:pt>
    <dgm:pt modelId="{ECD91DFC-856D-4E20-A478-BB053FDC772E}">
      <dgm:prSet/>
      <dgm:spPr/>
      <dgm:t>
        <a:bodyPr/>
        <a:lstStyle/>
        <a:p>
          <a:r>
            <a:rPr lang="fr-FR" b="1" dirty="0"/>
            <a:t>Prolonger le temps de visite fait grimper notre CA</a:t>
          </a:r>
          <a:endParaRPr lang="en-US" b="1" dirty="0"/>
        </a:p>
      </dgm:t>
    </dgm:pt>
    <dgm:pt modelId="{E2E878A0-7992-451A-B1C5-DDCDE3056FFD}" type="parTrans" cxnId="{69123D07-2C4B-4984-9833-96079F708430}">
      <dgm:prSet/>
      <dgm:spPr/>
      <dgm:t>
        <a:bodyPr/>
        <a:lstStyle/>
        <a:p>
          <a:endParaRPr lang="en-US"/>
        </a:p>
      </dgm:t>
    </dgm:pt>
    <dgm:pt modelId="{7CCC4724-E896-45E7-9737-95F8BE209156}" type="sibTrans" cxnId="{69123D07-2C4B-4984-9833-96079F708430}">
      <dgm:prSet/>
      <dgm:spPr/>
      <dgm:t>
        <a:bodyPr/>
        <a:lstStyle/>
        <a:p>
          <a:endParaRPr lang="en-US"/>
        </a:p>
      </dgm:t>
    </dgm:pt>
    <dgm:pt modelId="{7920DF00-7CD2-4906-BB49-B832FA0B6F1C}">
      <dgm:prSet/>
      <dgm:spPr/>
      <dgm:t>
        <a:bodyPr/>
        <a:lstStyle/>
        <a:p>
          <a:r>
            <a:rPr lang="fr-FR" b="1" dirty="0"/>
            <a:t>Nos clients se divisent désormais entre rapides et explorateurs</a:t>
          </a:r>
          <a:endParaRPr lang="en-US" b="1" dirty="0"/>
        </a:p>
      </dgm:t>
    </dgm:pt>
    <dgm:pt modelId="{E0AFE09E-A9B3-420A-8131-1F87631996AA}" type="parTrans" cxnId="{AEAB98B0-A244-42CB-AB9E-81AED4AACC10}">
      <dgm:prSet/>
      <dgm:spPr/>
      <dgm:t>
        <a:bodyPr/>
        <a:lstStyle/>
        <a:p>
          <a:endParaRPr lang="en-US"/>
        </a:p>
      </dgm:t>
    </dgm:pt>
    <dgm:pt modelId="{FAC8587B-333E-41E5-9A19-23B8DD91FAD4}" type="sibTrans" cxnId="{AEAB98B0-A244-42CB-AB9E-81AED4AACC10}">
      <dgm:prSet/>
      <dgm:spPr/>
      <dgm:t>
        <a:bodyPr/>
        <a:lstStyle/>
        <a:p>
          <a:endParaRPr lang="en-US"/>
        </a:p>
      </dgm:t>
    </dgm:pt>
    <dgm:pt modelId="{5AD83C4E-5B06-3447-8A46-2430F66462B0}">
      <dgm:prSet/>
      <dgm:spPr/>
      <dgm:t>
        <a:bodyPr/>
        <a:lstStyle/>
        <a:p>
          <a:pPr>
            <a:buNone/>
          </a:pPr>
          <a:r>
            <a:rPr lang="fr-FR" b="1" dirty="0"/>
            <a:t>Personnaliser l'expérience client pour dépasser nos prochains paliers de CA</a:t>
          </a:r>
        </a:p>
      </dgm:t>
    </dgm:pt>
    <dgm:pt modelId="{BB3EC0B8-F525-B843-AC5E-59A6293EF483}" type="parTrans" cxnId="{583DB08A-924C-024B-BC32-1A2F611C7B06}">
      <dgm:prSet/>
      <dgm:spPr/>
      <dgm:t>
        <a:bodyPr/>
        <a:lstStyle/>
        <a:p>
          <a:endParaRPr lang="fr-FR"/>
        </a:p>
      </dgm:t>
    </dgm:pt>
    <dgm:pt modelId="{CFFE50BE-925F-F34D-954E-C3BA0276A7B8}" type="sibTrans" cxnId="{583DB08A-924C-024B-BC32-1A2F611C7B06}">
      <dgm:prSet/>
      <dgm:spPr/>
      <dgm:t>
        <a:bodyPr/>
        <a:lstStyle/>
        <a:p>
          <a:endParaRPr lang="fr-FR"/>
        </a:p>
      </dgm:t>
    </dgm:pt>
    <dgm:pt modelId="{5F850598-D1AB-BF4F-A37C-28020B9C92EE}" type="pres">
      <dgm:prSet presAssocID="{E980604A-DDA0-429C-BEF0-05672B0D2C96}" presName="diagram" presStyleCnt="0">
        <dgm:presLayoutVars>
          <dgm:dir/>
          <dgm:resizeHandles val="exact"/>
        </dgm:presLayoutVars>
      </dgm:prSet>
      <dgm:spPr/>
    </dgm:pt>
    <dgm:pt modelId="{1E5B7151-9327-D946-8CA1-D421C962D6E5}" type="pres">
      <dgm:prSet presAssocID="{053D4E85-56EB-4FA3-80DC-DFFB61B18287}" presName="node" presStyleLbl="node1" presStyleIdx="0" presStyleCnt="6">
        <dgm:presLayoutVars>
          <dgm:bulletEnabled val="1"/>
        </dgm:presLayoutVars>
      </dgm:prSet>
      <dgm:spPr/>
    </dgm:pt>
    <dgm:pt modelId="{D51F4646-DDB1-3947-A428-C8737450A031}" type="pres">
      <dgm:prSet presAssocID="{BA215F5C-0409-45E7-9EE3-458797EEFD65}" presName="sibTrans" presStyleCnt="0"/>
      <dgm:spPr/>
    </dgm:pt>
    <dgm:pt modelId="{51532180-FD0E-8C44-8D96-35E717482DF4}" type="pres">
      <dgm:prSet presAssocID="{DC49B5D6-A504-4622-9302-362D064A3F22}" presName="node" presStyleLbl="node1" presStyleIdx="1" presStyleCnt="6">
        <dgm:presLayoutVars>
          <dgm:bulletEnabled val="1"/>
        </dgm:presLayoutVars>
      </dgm:prSet>
      <dgm:spPr/>
    </dgm:pt>
    <dgm:pt modelId="{191F0FFC-5CE9-3741-BFB6-29777AE1B60D}" type="pres">
      <dgm:prSet presAssocID="{1D56B55C-0405-4A8D-9C1A-CF22E72571AA}" presName="sibTrans" presStyleCnt="0"/>
      <dgm:spPr/>
    </dgm:pt>
    <dgm:pt modelId="{946CF854-D480-CE42-B7D5-3B0C5E9434D9}" type="pres">
      <dgm:prSet presAssocID="{E98E949B-B378-456A-8C1E-29B0F8EA187D}" presName="node" presStyleLbl="node1" presStyleIdx="2" presStyleCnt="6">
        <dgm:presLayoutVars>
          <dgm:bulletEnabled val="1"/>
        </dgm:presLayoutVars>
      </dgm:prSet>
      <dgm:spPr/>
    </dgm:pt>
    <dgm:pt modelId="{852A2538-27B9-904B-8CF7-A3FDF0FCC7D0}" type="pres">
      <dgm:prSet presAssocID="{760450FA-7055-45D7-BACB-AF0607ED1CA8}" presName="sibTrans" presStyleCnt="0"/>
      <dgm:spPr/>
    </dgm:pt>
    <dgm:pt modelId="{78ECEF2B-39AB-5B4D-A006-D751DB6772AE}" type="pres">
      <dgm:prSet presAssocID="{ECD91DFC-856D-4E20-A478-BB053FDC772E}" presName="node" presStyleLbl="node1" presStyleIdx="3" presStyleCnt="6">
        <dgm:presLayoutVars>
          <dgm:bulletEnabled val="1"/>
        </dgm:presLayoutVars>
      </dgm:prSet>
      <dgm:spPr/>
    </dgm:pt>
    <dgm:pt modelId="{B54C50C6-A1E4-BC44-8BB0-47743F33407E}" type="pres">
      <dgm:prSet presAssocID="{7CCC4724-E896-45E7-9737-95F8BE209156}" presName="sibTrans" presStyleCnt="0"/>
      <dgm:spPr/>
    </dgm:pt>
    <dgm:pt modelId="{2BC6D86E-CCDB-ED4F-B606-830FF2BEFB33}" type="pres">
      <dgm:prSet presAssocID="{7920DF00-7CD2-4906-BB49-B832FA0B6F1C}" presName="node" presStyleLbl="node1" presStyleIdx="4" presStyleCnt="6">
        <dgm:presLayoutVars>
          <dgm:bulletEnabled val="1"/>
        </dgm:presLayoutVars>
      </dgm:prSet>
      <dgm:spPr/>
    </dgm:pt>
    <dgm:pt modelId="{28A24FFD-D2DB-C54A-9CB3-D00DDB2E973F}" type="pres">
      <dgm:prSet presAssocID="{FAC8587B-333E-41E5-9A19-23B8DD91FAD4}" presName="sibTrans" presStyleCnt="0"/>
      <dgm:spPr/>
    </dgm:pt>
    <dgm:pt modelId="{5128D4BA-4DCA-4547-9F24-4E6CE7C1C48A}" type="pres">
      <dgm:prSet presAssocID="{5AD83C4E-5B06-3447-8A46-2430F66462B0}" presName="node" presStyleLbl="node1" presStyleIdx="5" presStyleCnt="6">
        <dgm:presLayoutVars>
          <dgm:bulletEnabled val="1"/>
        </dgm:presLayoutVars>
      </dgm:prSet>
      <dgm:spPr/>
    </dgm:pt>
  </dgm:ptLst>
  <dgm:cxnLst>
    <dgm:cxn modelId="{69123D07-2C4B-4984-9833-96079F708430}" srcId="{E980604A-DDA0-429C-BEF0-05672B0D2C96}" destId="{ECD91DFC-856D-4E20-A478-BB053FDC772E}" srcOrd="3" destOrd="0" parTransId="{E2E878A0-7992-451A-B1C5-DDCDE3056FFD}" sibTransId="{7CCC4724-E896-45E7-9737-95F8BE209156}"/>
    <dgm:cxn modelId="{DDBAB21A-AEC9-064A-9CAE-1763A7C0FDDC}" type="presOf" srcId="{5AD83C4E-5B06-3447-8A46-2430F66462B0}" destId="{5128D4BA-4DCA-4547-9F24-4E6CE7C1C48A}" srcOrd="0" destOrd="0" presId="urn:microsoft.com/office/officeart/2005/8/layout/default"/>
    <dgm:cxn modelId="{65DD5926-A457-6549-873C-6FB99A477E1E}" type="presOf" srcId="{DC49B5D6-A504-4622-9302-362D064A3F22}" destId="{51532180-FD0E-8C44-8D96-35E717482DF4}" srcOrd="0" destOrd="0" presId="urn:microsoft.com/office/officeart/2005/8/layout/default"/>
    <dgm:cxn modelId="{8A35D22C-3125-4080-8650-9E4645FEACA2}" srcId="{E980604A-DDA0-429C-BEF0-05672B0D2C96}" destId="{053D4E85-56EB-4FA3-80DC-DFFB61B18287}" srcOrd="0" destOrd="0" parTransId="{226BCA44-8C3B-4A96-917C-A40D7E5CE17F}" sibTransId="{BA215F5C-0409-45E7-9EE3-458797EEFD65}"/>
    <dgm:cxn modelId="{9E56BD45-4ADA-9B4E-B04E-B7D10DCCA3E4}" type="presOf" srcId="{ECD91DFC-856D-4E20-A478-BB053FDC772E}" destId="{78ECEF2B-39AB-5B4D-A006-D751DB6772AE}" srcOrd="0" destOrd="0" presId="urn:microsoft.com/office/officeart/2005/8/layout/default"/>
    <dgm:cxn modelId="{8228C659-0D49-8048-A014-B7F629854FA6}" type="presOf" srcId="{E980604A-DDA0-429C-BEF0-05672B0D2C96}" destId="{5F850598-D1AB-BF4F-A37C-28020B9C92EE}" srcOrd="0" destOrd="0" presId="urn:microsoft.com/office/officeart/2005/8/layout/default"/>
    <dgm:cxn modelId="{4D01576C-AB86-8342-9E5D-938F24D60054}" type="presOf" srcId="{7920DF00-7CD2-4906-BB49-B832FA0B6F1C}" destId="{2BC6D86E-CCDB-ED4F-B606-830FF2BEFB33}" srcOrd="0" destOrd="0" presId="urn:microsoft.com/office/officeart/2005/8/layout/default"/>
    <dgm:cxn modelId="{583DB08A-924C-024B-BC32-1A2F611C7B06}" srcId="{E980604A-DDA0-429C-BEF0-05672B0D2C96}" destId="{5AD83C4E-5B06-3447-8A46-2430F66462B0}" srcOrd="5" destOrd="0" parTransId="{BB3EC0B8-F525-B843-AC5E-59A6293EF483}" sibTransId="{CFFE50BE-925F-F34D-954E-C3BA0276A7B8}"/>
    <dgm:cxn modelId="{EBC19E98-4165-924E-9D1B-55FB4440ED34}" type="presOf" srcId="{E98E949B-B378-456A-8C1E-29B0F8EA187D}" destId="{946CF854-D480-CE42-B7D5-3B0C5E9434D9}" srcOrd="0" destOrd="0" presId="urn:microsoft.com/office/officeart/2005/8/layout/default"/>
    <dgm:cxn modelId="{76CBE6A5-23F2-9C48-9560-9C9C8C2D93BD}" type="presOf" srcId="{053D4E85-56EB-4FA3-80DC-DFFB61B18287}" destId="{1E5B7151-9327-D946-8CA1-D421C962D6E5}" srcOrd="0" destOrd="0" presId="urn:microsoft.com/office/officeart/2005/8/layout/default"/>
    <dgm:cxn modelId="{AEAB98B0-A244-42CB-AB9E-81AED4AACC10}" srcId="{E980604A-DDA0-429C-BEF0-05672B0D2C96}" destId="{7920DF00-7CD2-4906-BB49-B832FA0B6F1C}" srcOrd="4" destOrd="0" parTransId="{E0AFE09E-A9B3-420A-8131-1F87631996AA}" sibTransId="{FAC8587B-333E-41E5-9A19-23B8DD91FAD4}"/>
    <dgm:cxn modelId="{8CC340D0-9713-49CB-AE14-C3DB8DB681AB}" srcId="{E980604A-DDA0-429C-BEF0-05672B0D2C96}" destId="{DC49B5D6-A504-4622-9302-362D064A3F22}" srcOrd="1" destOrd="0" parTransId="{AFC5F779-945B-4ACD-A024-D17087A3E6E5}" sibTransId="{1D56B55C-0405-4A8D-9C1A-CF22E72571AA}"/>
    <dgm:cxn modelId="{D6BE09DE-AB92-4DAD-A67F-F50D4542DAD3}" srcId="{E980604A-DDA0-429C-BEF0-05672B0D2C96}" destId="{E98E949B-B378-456A-8C1E-29B0F8EA187D}" srcOrd="2" destOrd="0" parTransId="{78D96AB1-C2C8-4513-9DDC-37C7F1CDB8F9}" sibTransId="{760450FA-7055-45D7-BACB-AF0607ED1CA8}"/>
    <dgm:cxn modelId="{9E5811FB-78EF-3D46-88D8-5BBFBA1BEC52}" type="presParOf" srcId="{5F850598-D1AB-BF4F-A37C-28020B9C92EE}" destId="{1E5B7151-9327-D946-8CA1-D421C962D6E5}" srcOrd="0" destOrd="0" presId="urn:microsoft.com/office/officeart/2005/8/layout/default"/>
    <dgm:cxn modelId="{B7364D67-CDEC-874B-9307-944D03AFD505}" type="presParOf" srcId="{5F850598-D1AB-BF4F-A37C-28020B9C92EE}" destId="{D51F4646-DDB1-3947-A428-C8737450A031}" srcOrd="1" destOrd="0" presId="urn:microsoft.com/office/officeart/2005/8/layout/default"/>
    <dgm:cxn modelId="{A53BAB45-18BB-684C-ABCF-A05A13090055}" type="presParOf" srcId="{5F850598-D1AB-BF4F-A37C-28020B9C92EE}" destId="{51532180-FD0E-8C44-8D96-35E717482DF4}" srcOrd="2" destOrd="0" presId="urn:microsoft.com/office/officeart/2005/8/layout/default"/>
    <dgm:cxn modelId="{EFBAFC81-8630-B447-B18A-9BB87A66912E}" type="presParOf" srcId="{5F850598-D1AB-BF4F-A37C-28020B9C92EE}" destId="{191F0FFC-5CE9-3741-BFB6-29777AE1B60D}" srcOrd="3" destOrd="0" presId="urn:microsoft.com/office/officeart/2005/8/layout/default"/>
    <dgm:cxn modelId="{01E5E499-6ED4-7D4B-A7A0-7C57584FA86F}" type="presParOf" srcId="{5F850598-D1AB-BF4F-A37C-28020B9C92EE}" destId="{946CF854-D480-CE42-B7D5-3B0C5E9434D9}" srcOrd="4" destOrd="0" presId="urn:microsoft.com/office/officeart/2005/8/layout/default"/>
    <dgm:cxn modelId="{3C0809FE-7D6B-4144-876D-411E3E2A2255}" type="presParOf" srcId="{5F850598-D1AB-BF4F-A37C-28020B9C92EE}" destId="{852A2538-27B9-904B-8CF7-A3FDF0FCC7D0}" srcOrd="5" destOrd="0" presId="urn:microsoft.com/office/officeart/2005/8/layout/default"/>
    <dgm:cxn modelId="{665C7F48-8D10-9B4D-8177-B8C8EEE76E7D}" type="presParOf" srcId="{5F850598-D1AB-BF4F-A37C-28020B9C92EE}" destId="{78ECEF2B-39AB-5B4D-A006-D751DB6772AE}" srcOrd="6" destOrd="0" presId="urn:microsoft.com/office/officeart/2005/8/layout/default"/>
    <dgm:cxn modelId="{02F1E97C-D62A-234B-8F11-21596D0D0B1C}" type="presParOf" srcId="{5F850598-D1AB-BF4F-A37C-28020B9C92EE}" destId="{B54C50C6-A1E4-BC44-8BB0-47743F33407E}" srcOrd="7" destOrd="0" presId="urn:microsoft.com/office/officeart/2005/8/layout/default"/>
    <dgm:cxn modelId="{13DF6E87-75CB-EA4C-A107-F93B48206268}" type="presParOf" srcId="{5F850598-D1AB-BF4F-A37C-28020B9C92EE}" destId="{2BC6D86E-CCDB-ED4F-B606-830FF2BEFB33}" srcOrd="8" destOrd="0" presId="urn:microsoft.com/office/officeart/2005/8/layout/default"/>
    <dgm:cxn modelId="{18128C13-54A8-824E-A4A1-CFBFB842EEED}" type="presParOf" srcId="{5F850598-D1AB-BF4F-A37C-28020B9C92EE}" destId="{28A24FFD-D2DB-C54A-9CB3-D00DDB2E973F}" srcOrd="9" destOrd="0" presId="urn:microsoft.com/office/officeart/2005/8/layout/default"/>
    <dgm:cxn modelId="{E4A994FF-2E0E-F049-8790-F9E8E894A9F0}" type="presParOf" srcId="{5F850598-D1AB-BF4F-A37C-28020B9C92EE}" destId="{5128D4BA-4DCA-4547-9F24-4E6CE7C1C48A}"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5B7151-9327-D946-8CA1-D421C962D6E5}">
      <dsp:nvSpPr>
        <dsp:cNvPr id="0" name=""/>
        <dsp:cNvSpPr/>
      </dsp:nvSpPr>
      <dsp:spPr>
        <a:xfrm>
          <a:off x="472505" y="2282"/>
          <a:ext cx="2724677" cy="163480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kern="1200" dirty="0"/>
            <a:t>La baisse du CA est dû à l'arrêt de l’High-Tech</a:t>
          </a:r>
          <a:endParaRPr lang="en-US" sz="2100" b="1" kern="1200" dirty="0"/>
        </a:p>
      </dsp:txBody>
      <dsp:txXfrm>
        <a:off x="472505" y="2282"/>
        <a:ext cx="2724677" cy="1634806"/>
      </dsp:txXfrm>
    </dsp:sp>
    <dsp:sp modelId="{51532180-FD0E-8C44-8D96-35E717482DF4}">
      <dsp:nvSpPr>
        <dsp:cNvPr id="0" name=""/>
        <dsp:cNvSpPr/>
      </dsp:nvSpPr>
      <dsp:spPr>
        <a:xfrm>
          <a:off x="3469650" y="2282"/>
          <a:ext cx="2724677" cy="163480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kern="1200" dirty="0"/>
            <a:t>L’alimentaire, nouveau moteur de croissance, multiplie notre trafic par 30</a:t>
          </a:r>
          <a:endParaRPr lang="en-US" sz="2100" b="1" kern="1200" dirty="0"/>
        </a:p>
      </dsp:txBody>
      <dsp:txXfrm>
        <a:off x="3469650" y="2282"/>
        <a:ext cx="2724677" cy="1634806"/>
      </dsp:txXfrm>
    </dsp:sp>
    <dsp:sp modelId="{946CF854-D480-CE42-B7D5-3B0C5E9434D9}">
      <dsp:nvSpPr>
        <dsp:cNvPr id="0" name=""/>
        <dsp:cNvSpPr/>
      </dsp:nvSpPr>
      <dsp:spPr>
        <a:xfrm>
          <a:off x="472505" y="1909556"/>
          <a:ext cx="2724677" cy="1634806"/>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kern="1200" dirty="0"/>
            <a:t>À 5%, notre taux de transformation reste largement supérieur à la moyenne du marché (3%)</a:t>
          </a:r>
          <a:endParaRPr lang="en-US" sz="2100" b="1" kern="1200" dirty="0"/>
        </a:p>
      </dsp:txBody>
      <dsp:txXfrm>
        <a:off x="472505" y="1909556"/>
        <a:ext cx="2724677" cy="1634806"/>
      </dsp:txXfrm>
    </dsp:sp>
    <dsp:sp modelId="{78ECEF2B-39AB-5B4D-A006-D751DB6772AE}">
      <dsp:nvSpPr>
        <dsp:cNvPr id="0" name=""/>
        <dsp:cNvSpPr/>
      </dsp:nvSpPr>
      <dsp:spPr>
        <a:xfrm>
          <a:off x="3469650" y="1909556"/>
          <a:ext cx="2724677" cy="163480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kern="1200" dirty="0"/>
            <a:t>Prolonger le temps de visite fait grimper notre CA</a:t>
          </a:r>
          <a:endParaRPr lang="en-US" sz="2100" b="1" kern="1200" dirty="0"/>
        </a:p>
      </dsp:txBody>
      <dsp:txXfrm>
        <a:off x="3469650" y="1909556"/>
        <a:ext cx="2724677" cy="1634806"/>
      </dsp:txXfrm>
    </dsp:sp>
    <dsp:sp modelId="{2BC6D86E-CCDB-ED4F-B606-830FF2BEFB33}">
      <dsp:nvSpPr>
        <dsp:cNvPr id="0" name=""/>
        <dsp:cNvSpPr/>
      </dsp:nvSpPr>
      <dsp:spPr>
        <a:xfrm>
          <a:off x="472505" y="3816830"/>
          <a:ext cx="2724677" cy="1634806"/>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kern="1200" dirty="0"/>
            <a:t>Nos clients se divisent désormais entre rapides et explorateurs</a:t>
          </a:r>
          <a:endParaRPr lang="en-US" sz="2100" b="1" kern="1200" dirty="0"/>
        </a:p>
      </dsp:txBody>
      <dsp:txXfrm>
        <a:off x="472505" y="3816830"/>
        <a:ext cx="2724677" cy="1634806"/>
      </dsp:txXfrm>
    </dsp:sp>
    <dsp:sp modelId="{5128D4BA-4DCA-4547-9F24-4E6CE7C1C48A}">
      <dsp:nvSpPr>
        <dsp:cNvPr id="0" name=""/>
        <dsp:cNvSpPr/>
      </dsp:nvSpPr>
      <dsp:spPr>
        <a:xfrm>
          <a:off x="3469650" y="3816830"/>
          <a:ext cx="2724677" cy="163480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b="1" kern="1200" dirty="0"/>
            <a:t>Personnaliser l'expérience client pour dépasser nos prochains paliers de CA</a:t>
          </a:r>
        </a:p>
      </dsp:txBody>
      <dsp:txXfrm>
        <a:off x="3469650" y="3816830"/>
        <a:ext cx="2724677" cy="16348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82F6A-52E3-7846-9D74-930F67E08874}" type="datetimeFigureOut">
              <a:rPr lang="fr-FR" smtClean="0"/>
              <a:t>29/01/2026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F09FE7-2F93-8F48-A00D-ACF2D0CA80E9}" type="slidenum">
              <a:rPr lang="fr-FR" smtClean="0"/>
              <a:t>‹N°›</a:t>
            </a:fld>
            <a:endParaRPr lang="fr-FR"/>
          </a:p>
        </p:txBody>
      </p:sp>
    </p:spTree>
    <p:extLst>
      <p:ext uri="{BB962C8B-B14F-4D97-AF65-F5344CB8AC3E}">
        <p14:creationId xmlns:p14="http://schemas.microsoft.com/office/powerpoint/2010/main" val="1834148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Je vais vous présenter aujourd'hui le bilan de nos actions marketing</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1</a:t>
            </a:fld>
            <a:endParaRPr lang="fr-FR"/>
          </a:p>
        </p:txBody>
      </p:sp>
    </p:spTree>
    <p:extLst>
      <p:ext uri="{BB962C8B-B14F-4D97-AF65-F5344CB8AC3E}">
        <p14:creationId xmlns:p14="http://schemas.microsoft.com/office/powerpoint/2010/main" val="4285465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rapport se concentrera autour de 5 grands points</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2</a:t>
            </a:fld>
            <a:endParaRPr lang="fr-FR"/>
          </a:p>
        </p:txBody>
      </p:sp>
    </p:spTree>
    <p:extLst>
      <p:ext uri="{BB962C8B-B14F-4D97-AF65-F5344CB8AC3E}">
        <p14:creationId xmlns:p14="http://schemas.microsoft.com/office/powerpoint/2010/main" val="487606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On commence par </a:t>
            </a:r>
            <a:r>
              <a:rPr lang="fr-FR" b="1" dirty="0"/>
              <a:t>cet histogramme empilé</a:t>
            </a:r>
            <a:r>
              <a:rPr lang="fr-FR" dirty="0"/>
              <a:t>, on comprend directement d'où vient la baisse de notre chiffre d'affaires.</a:t>
            </a:r>
            <a:br>
              <a:rPr lang="fr-FR" dirty="0"/>
            </a:br>
            <a:br>
              <a:rPr lang="fr-FR" dirty="0"/>
            </a:br>
            <a:r>
              <a:rPr lang="fr-FR" dirty="0"/>
              <a:t>La zone rouge, qui représentait le High-Tech, a complètement disparu en février.</a:t>
            </a:r>
            <a:br>
              <a:rPr lang="fr-FR" dirty="0"/>
            </a:br>
            <a:r>
              <a:rPr lang="fr-FR" dirty="0"/>
              <a:t>C’est le résultat direct de notre décision d'arrêter ce segment.</a:t>
            </a:r>
            <a:br>
              <a:rPr lang="fr-FR" dirty="0"/>
            </a:br>
            <a:br>
              <a:rPr lang="fr-FR" dirty="0"/>
            </a:br>
            <a:r>
              <a:rPr lang="fr-FR" dirty="0"/>
              <a:t>Évidemment, quand on arrête de vendre des produits chers comme des ordinateurs pour se concentrer sur de la nourriture (la zone bleue), le montant total baisse d'un coup. </a:t>
            </a:r>
          </a:p>
          <a:p>
            <a:pPr marL="0" marR="0" lvl="0" indent="0" algn="l" defTabSz="914400" rtl="0" eaLnBrk="1" fontAlgn="auto" latinLnBrk="0" hangingPunct="1">
              <a:lnSpc>
                <a:spcPct val="100000"/>
              </a:lnSpc>
              <a:spcBef>
                <a:spcPts val="0"/>
              </a:spcBef>
              <a:spcAft>
                <a:spcPts val="0"/>
              </a:spcAft>
              <a:buClrTx/>
              <a:buSzTx/>
              <a:buFontTx/>
              <a:buNone/>
              <a:tabLst/>
              <a:defRPr/>
            </a:pPr>
            <a:br>
              <a:rPr lang="fr-FR" dirty="0"/>
            </a:br>
            <a:r>
              <a:rPr lang="fr-FR" dirty="0"/>
              <a:t>Mais regardez bien la tendance : la part de la </a:t>
            </a:r>
            <a:r>
              <a:rPr lang="fr-FR" b="1" dirty="0"/>
              <a:t>nourriture</a:t>
            </a:r>
            <a:r>
              <a:rPr lang="fr-FR" dirty="0"/>
              <a:t> ne fait que grandir chaque mois. C'est elle qui devient notre moteur !</a:t>
            </a:r>
            <a:br>
              <a:rPr lang="fr-FR" dirty="0"/>
            </a:br>
            <a:br>
              <a:rPr lang="fr-FR" dirty="0"/>
            </a:br>
            <a:r>
              <a:rPr lang="fr-FR" b="1" dirty="0"/>
              <a:t>Si la tendance se maintient ca </a:t>
            </a:r>
            <a:r>
              <a:rPr lang="fr-FR" dirty="0"/>
              <a:t>va nous permettre de retrouver une croissance très forte, autour de </a:t>
            </a:r>
            <a:r>
              <a:rPr lang="fr-FR" b="1" dirty="0"/>
              <a:t>80 000 € de CA mensuel total</a:t>
            </a:r>
            <a:r>
              <a:rPr lang="fr-FR" dirty="0"/>
              <a:t>, dès le mois prochain.</a:t>
            </a:r>
            <a:br>
              <a:rPr lang="fr-FR" dirty="0"/>
            </a:br>
            <a:br>
              <a:rPr lang="fr-FR" dirty="0"/>
            </a:br>
            <a:r>
              <a:rPr lang="fr-FR" dirty="0"/>
              <a:t>Ce changement nous fait passer d'un site de passage en une destination ou les gens se bousculent.</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3</a:t>
            </a:fld>
            <a:endParaRPr lang="fr-FR"/>
          </a:p>
        </p:txBody>
      </p:sp>
    </p:spTree>
    <p:extLst>
      <p:ext uri="{BB962C8B-B14F-4D97-AF65-F5344CB8AC3E}">
        <p14:creationId xmlns:p14="http://schemas.microsoft.com/office/powerpoint/2010/main" val="3632293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Et justement, Ce que vous voyez ici, Frédéric, c'est la preuve que notre nouveau positionnement a frappé fort et juste.</a:t>
            </a:r>
            <a:br>
              <a:rPr lang="fr-FR" dirty="0"/>
            </a:br>
            <a:br>
              <a:rPr lang="fr-FR" dirty="0"/>
            </a:br>
            <a:r>
              <a:rPr lang="fr-FR" dirty="0"/>
              <a:t>Regardez cette courbe verte : en l’espace d'un an, notre trafic a littéralement changé d’échelle. </a:t>
            </a:r>
            <a:br>
              <a:rPr lang="fr-FR" dirty="0"/>
            </a:br>
            <a:r>
              <a:rPr lang="fr-FR" dirty="0"/>
              <a:t>On est passé d’environ 20 000 à </a:t>
            </a:r>
            <a:r>
              <a:rPr lang="fr-FR" b="1" dirty="0"/>
              <a:t>550 000 visites mensuelles</a:t>
            </a:r>
            <a:r>
              <a:rPr lang="fr-FR" dirty="0"/>
              <a:t>. C'est un fois </a:t>
            </a:r>
            <a:r>
              <a:rPr lang="fr-FR" b="0" dirty="0"/>
              <a:t>30</a:t>
            </a:r>
          </a:p>
          <a:p>
            <a:br>
              <a:rPr lang="fr-FR" dirty="0"/>
            </a:br>
            <a:r>
              <a:rPr lang="fr-FR" dirty="0"/>
              <a:t>Mais c’est plus qu'une question de passage. Le volume de ventes, en bleu a aussi augmenté.</a:t>
            </a:r>
            <a:br>
              <a:rPr lang="fr-FR" dirty="0"/>
            </a:br>
            <a:r>
              <a:rPr lang="fr-FR" dirty="0"/>
              <a:t>LGM est devenu, en quelques mois seulement, une destination incontournable pour les courses du quotidien. </a:t>
            </a:r>
            <a:br>
              <a:rPr lang="fr-FR" dirty="0"/>
            </a:br>
            <a:br>
              <a:rPr lang="fr-FR" dirty="0"/>
            </a:br>
            <a:r>
              <a:rPr lang="fr-FR" dirty="0"/>
              <a:t>Cela dit avec autant de visiteurs, le défi n'est plus seulement d'attirer du monde, mais de s'assurer que notre site reste efficace pour transformer le plus de clic possible en achat. </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4</a:t>
            </a:fld>
            <a:endParaRPr lang="fr-FR"/>
          </a:p>
        </p:txBody>
      </p:sp>
    </p:spTree>
    <p:extLst>
      <p:ext uri="{BB962C8B-B14F-4D97-AF65-F5344CB8AC3E}">
        <p14:creationId xmlns:p14="http://schemas.microsoft.com/office/powerpoint/2010/main" val="3104249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et comme on peut le voir Sur ce graphique, </a:t>
            </a:r>
            <a:br>
              <a:rPr lang="fr-FR" dirty="0"/>
            </a:br>
            <a:r>
              <a:rPr lang="fr-FR" dirty="0"/>
              <a:t>notre taux de conversion passe de </a:t>
            </a:r>
            <a:r>
              <a:rPr lang="fr-FR" b="1" dirty="0"/>
              <a:t>11 % à 5 %</a:t>
            </a:r>
            <a:r>
              <a:rPr lang="fr-FR" dirty="0"/>
              <a:t> sur l’année.</a:t>
            </a:r>
          </a:p>
          <a:p>
            <a:endParaRPr lang="fr-FR" dirty="0"/>
          </a:p>
          <a:p>
            <a:r>
              <a:rPr lang="fr-FR" dirty="0"/>
              <a:t>C’est la conséquence logique de notre explosion de trafic : nos visites ont augmenté plus vite que nos ventes.</a:t>
            </a:r>
          </a:p>
          <a:p>
            <a:r>
              <a:rPr lang="fr-FR" dirty="0"/>
              <a:t>Mais ce chiffre de </a:t>
            </a:r>
            <a:r>
              <a:rPr lang="fr-FR" b="1" dirty="0"/>
              <a:t>5 %</a:t>
            </a:r>
            <a:r>
              <a:rPr lang="fr-FR" dirty="0"/>
              <a:t> reste très bon: la moyenne du e-commerce se situe autour de </a:t>
            </a:r>
            <a:r>
              <a:rPr lang="fr-FR" b="1" dirty="0"/>
              <a:t>3 %</a:t>
            </a:r>
            <a:r>
              <a:rPr lang="fr-FR" dirty="0"/>
              <a:t>.</a:t>
            </a:r>
          </a:p>
          <a:p>
            <a:r>
              <a:rPr lang="fr-FR" dirty="0"/>
              <a:t>Même en ayant totalement changé notre catalogue, on convainc presque deux fois mieux que la concurrence.</a:t>
            </a:r>
            <a:br>
              <a:rPr lang="fr-FR" dirty="0"/>
            </a:br>
            <a:br>
              <a:rPr lang="fr-FR" dirty="0"/>
            </a:br>
            <a:r>
              <a:rPr lang="fr-FR" dirty="0"/>
              <a:t>On sait donc transformer les clics. </a:t>
            </a:r>
            <a:br>
              <a:rPr lang="fr-FR" dirty="0"/>
            </a:br>
            <a:br>
              <a:rPr lang="fr-FR" dirty="0"/>
            </a:br>
            <a:r>
              <a:rPr lang="fr-FR" dirty="0"/>
              <a:t>Maintenant, il nous reste à comprendre le déclic qui pousse un client à ne pas se contenter d'un seul article, mais à réellement charger son panier.</a:t>
            </a:r>
          </a:p>
          <a:p>
            <a:br>
              <a:rPr lang="fr-FR" dirty="0"/>
            </a:br>
            <a:endParaRPr lang="fr-FR" dirty="0"/>
          </a:p>
          <a:p>
            <a:endParaRPr lang="fr-FR" dirty="0"/>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5</a:t>
            </a:fld>
            <a:endParaRPr lang="fr-FR"/>
          </a:p>
        </p:txBody>
      </p:sp>
    </p:spTree>
    <p:extLst>
      <p:ext uri="{BB962C8B-B14F-4D97-AF65-F5344CB8AC3E}">
        <p14:creationId xmlns:p14="http://schemas.microsoft.com/office/powerpoint/2010/main" val="3126943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déclic, Frédéric, il se joue en réalité à la montre : chaque minute supplémentaire passée à naviguer se transforme directement en euros.</a:t>
            </a:r>
            <a:br>
              <a:rPr lang="fr-FR" dirty="0"/>
            </a:br>
            <a:br>
              <a:rPr lang="fr-FR" dirty="0"/>
            </a:br>
            <a:r>
              <a:rPr lang="fr-FR" dirty="0"/>
              <a:t>Ce nuage de points montre que : plus le client prend le temps de découvrir nos produits, plus son panier s'alourdit.</a:t>
            </a:r>
            <a:br>
              <a:rPr lang="fr-FR" dirty="0"/>
            </a:br>
            <a:endParaRPr lang="fr-FR" dirty="0"/>
          </a:p>
          <a:p>
            <a:r>
              <a:rPr lang="fr-FR" dirty="0"/>
              <a:t>On voit que Nos acheteurs passent environ entre 6 et </a:t>
            </a:r>
            <a:r>
              <a:rPr lang="fr-FR" b="1" dirty="0"/>
              <a:t>8 minutes</a:t>
            </a:r>
            <a:r>
              <a:rPr lang="fr-FR" dirty="0"/>
              <a:t> sur le site pour une commande moyenne de </a:t>
            </a:r>
            <a:r>
              <a:rPr lang="fr-FR" b="1" dirty="0"/>
              <a:t>40 €</a:t>
            </a:r>
            <a:r>
              <a:rPr lang="fr-FR" dirty="0"/>
              <a:t>.</a:t>
            </a:r>
          </a:p>
          <a:p>
            <a:r>
              <a:rPr lang="fr-FR" dirty="0"/>
              <a:t>On remarque aussi que la grande majorité de nos revenus se concentre sur des paniers entre </a:t>
            </a:r>
            <a:r>
              <a:rPr lang="fr-FR" b="1" dirty="0"/>
              <a:t>30 € et 50 €</a:t>
            </a:r>
            <a:r>
              <a:rPr lang="fr-FR" dirty="0"/>
              <a:t>.</a:t>
            </a:r>
          </a:p>
          <a:p>
            <a:r>
              <a:rPr lang="fr-FR" dirty="0"/>
              <a:t>C’est la preuve que notre interface doit être captivante : prolonger la visite, c'est faire grimper notre chiffre d'affaires.</a:t>
            </a:r>
          </a:p>
          <a:p>
            <a:br>
              <a:rPr lang="fr-FR" dirty="0"/>
            </a:br>
            <a:r>
              <a:rPr lang="fr-FR" dirty="0"/>
              <a:t>Ces chiffres montrent aussi que Nos clients ne se ressemblent plus et que certains sont devenus beaucoup plus pressés que d'autres.</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6</a:t>
            </a:fld>
            <a:endParaRPr lang="fr-FR"/>
          </a:p>
        </p:txBody>
      </p:sp>
    </p:spTree>
    <p:extLst>
      <p:ext uri="{BB962C8B-B14F-4D97-AF65-F5344CB8AC3E}">
        <p14:creationId xmlns:p14="http://schemas.microsoft.com/office/powerpoint/2010/main" val="736711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Explication si jamais il en a besoin ( un exemple pour qu’il comprenne facilement ce que c’est  : </a:t>
            </a:r>
            <a:br>
              <a:rPr lang="fr-FR" dirty="0"/>
            </a:br>
            <a:br>
              <a:rPr lang="fr-FR" dirty="0"/>
            </a:br>
            <a:r>
              <a:rPr lang="fr-FR" sz="1600" b="1" i="1" u="none" dirty="0">
                <a:highlight>
                  <a:srgbClr val="00FF00"/>
                </a:highlight>
              </a:rPr>
              <a:t>Frédéric, pour que ce graphique soit clair, imaginez que nous observons les clients dans les allées d'un magasin physique avec un chronomètre. </a:t>
            </a:r>
            <a:br>
              <a:rPr lang="fr-FR" sz="1600" b="1" i="1" u="none" dirty="0">
                <a:highlight>
                  <a:srgbClr val="00FF00"/>
                </a:highlight>
              </a:rPr>
            </a:br>
            <a:br>
              <a:rPr lang="fr-FR" sz="1600" b="1" i="1" u="none" dirty="0">
                <a:highlight>
                  <a:srgbClr val="00FF00"/>
                </a:highlight>
              </a:rPr>
            </a:br>
            <a:r>
              <a:rPr lang="fr-FR" sz="1600" b="1" i="1" u="none" dirty="0">
                <a:highlight>
                  <a:srgbClr val="00FF00"/>
                </a:highlight>
              </a:rPr>
              <a:t>La Médiane : « C'est notre client "du milieu". La moitié de nos clients mettent moins de temps que lui, l'autre moitié met plus de temps.</a:t>
            </a:r>
          </a:p>
          <a:p>
            <a:r>
              <a:rPr lang="fr-FR" sz="1600" b="1" i="1" u="none" dirty="0">
                <a:highlight>
                  <a:srgbClr val="00FF00"/>
                </a:highlight>
              </a:rPr>
              <a:t>La boîte : « C'est là que se trouve la majorité, nos 50 % de clients les plus représentatifs. Si la boîte est petite, tout le monde fait ses courses de la même façon. Et on peu le voir que c’est pas le cas.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1" u="none" dirty="0">
                <a:highlight>
                  <a:srgbClr val="00FF00"/>
                </a:highlight>
              </a:rPr>
              <a:t>L'étirement des moustaches: C'est ici que ça devient intéressant. Voyez comment les barres s'allongent chaque mois ? Cela veut dire que l'écart du temps passé par client se creuse. </a:t>
            </a:r>
            <a:br>
              <a:rPr lang="fr-FR" sz="1600" b="1" i="1" u="none" dirty="0">
                <a:highlight>
                  <a:srgbClr val="00FF00"/>
                </a:highlight>
              </a:rPr>
            </a:br>
            <a:br>
              <a:rPr lang="fr-FR" sz="1600" b="1" i="1" u="none" dirty="0"/>
            </a:br>
            <a:br>
              <a:rPr lang="fr-FR" sz="1600" b="1" i="1" u="none" dirty="0"/>
            </a:br>
            <a:br>
              <a:rPr lang="fr-FR" sz="1600" b="1" i="1" u="none" dirty="0"/>
            </a:br>
            <a:r>
              <a:rPr lang="fr-FR" sz="1600" b="1" i="1" u="none" dirty="0"/>
              <a:t>Sur cette boite a moustache on voit que :</a:t>
            </a:r>
            <a:br>
              <a:rPr lang="fr-FR" sz="1600" b="1" i="1" u="none" dirty="0"/>
            </a:br>
            <a:br>
              <a:rPr lang="fr-FR" b="1" i="1" u="sng" dirty="0"/>
            </a:br>
            <a:r>
              <a:rPr lang="fr-FR" sz="1200" b="1" dirty="0"/>
              <a:t>La Médiane passe légèrement sous les</a:t>
            </a:r>
            <a:r>
              <a:rPr lang="fr-FR" sz="1200" b="0" dirty="0"/>
              <a:t> </a:t>
            </a:r>
            <a:r>
              <a:rPr lang="fr-FR" sz="1200" b="1" dirty="0"/>
              <a:t>7 minutes, mais Chaque mois, la boite et les moustaches s’étirent.</a:t>
            </a:r>
            <a:br>
              <a:rPr lang="fr-FR" sz="1200" b="1" dirty="0"/>
            </a:br>
            <a:br>
              <a:rPr lang="fr-FR" sz="1200" b="1" dirty="0"/>
            </a:br>
            <a:r>
              <a:rPr lang="fr-FR" dirty="0"/>
              <a:t>L'écart se creuse entre deux profils :</a:t>
            </a:r>
            <a:br>
              <a:rPr lang="fr-FR" sz="1200" b="1" dirty="0"/>
            </a:br>
            <a:endParaRPr lang="fr-FR" sz="1200" b="1" dirty="0"/>
          </a:p>
          <a:p>
            <a:r>
              <a:rPr lang="fr-FR" sz="1600" dirty="0"/>
              <a:t>-les </a:t>
            </a:r>
            <a:r>
              <a:rPr lang="fr-FR" sz="1600" b="1" dirty="0"/>
              <a:t>"clients rapide"</a:t>
            </a:r>
            <a:r>
              <a:rPr lang="fr-FR" sz="1600" dirty="0"/>
              <a:t> qui achètent en 4 minutes parce qu'ils connaissent leurs produits, </a:t>
            </a:r>
            <a:br>
              <a:rPr lang="fr-FR" sz="1600" dirty="0"/>
            </a:br>
            <a:r>
              <a:rPr lang="fr-FR" sz="1600" dirty="0"/>
              <a:t>-les clients dit </a:t>
            </a:r>
            <a:r>
              <a:rPr lang="fr-FR" sz="1600" b="1" dirty="0"/>
              <a:t>"explorateurs"</a:t>
            </a:r>
            <a:r>
              <a:rPr lang="fr-FR" sz="1600" dirty="0"/>
              <a:t> qui prennent 10 minutes pour découvrir nos nouveaux rayons alimentaires. </a:t>
            </a:r>
            <a:br>
              <a:rPr lang="fr-FR" sz="1600" dirty="0"/>
            </a:br>
            <a:br>
              <a:rPr lang="fr-FR" sz="1600" dirty="0"/>
            </a:br>
            <a:r>
              <a:rPr lang="fr-FR" sz="1600" dirty="0"/>
              <a:t>L’écart de profil est </a:t>
            </a:r>
            <a:r>
              <a:rPr lang="fr-FR" sz="1600" dirty="0" err="1"/>
              <a:t>present</a:t>
            </a:r>
            <a:r>
              <a:rPr lang="fr-FR" sz="1600" dirty="0"/>
              <a:t> mais pas grave en soit car on peut optimiser tout ca.</a:t>
            </a:r>
            <a:br>
              <a:rPr lang="fr-FR" sz="1600" dirty="0"/>
            </a:br>
            <a:br>
              <a:rPr lang="fr-FR" sz="1600" dirty="0"/>
            </a:br>
            <a:r>
              <a:rPr lang="fr-FR" sz="1600" dirty="0"/>
              <a:t>Ma suggestion pour maintenir notre croissance est de nous adapter à ces deux profils:</a:t>
            </a:r>
            <a:br>
              <a:rPr lang="fr-FR" sz="1600" dirty="0"/>
            </a:br>
            <a:br>
              <a:rPr lang="fr-FR" sz="1600" dirty="0"/>
            </a:br>
            <a:r>
              <a:rPr lang="fr-FR" sz="1600" dirty="0"/>
              <a:t>on crée : </a:t>
            </a:r>
          </a:p>
          <a:p>
            <a:r>
              <a:rPr lang="fr-FR" sz="1600" dirty="0"/>
              <a:t>Une </a:t>
            </a:r>
            <a:r>
              <a:rPr lang="fr-FR" sz="1600" b="1" dirty="0"/>
              <a:t>"Voie Rapide"</a:t>
            </a:r>
            <a:r>
              <a:rPr lang="fr-FR" sz="1600" dirty="0"/>
              <a:t> pour sécuriser les achats récurrents. (</a:t>
            </a:r>
            <a:r>
              <a:rPr lang="fr-FR" sz="1600" dirty="0" err="1"/>
              <a:t>grace</a:t>
            </a:r>
            <a:r>
              <a:rPr lang="fr-FR" sz="1600" dirty="0"/>
              <a:t> a des abonnement ou listes pré remplies ou les clients auraient juste a valider l’achat) </a:t>
            </a:r>
          </a:p>
          <a:p>
            <a:r>
              <a:rPr lang="fr-FR" sz="1600" dirty="0"/>
              <a:t>Une </a:t>
            </a:r>
            <a:r>
              <a:rPr lang="fr-FR" sz="1600" b="1" dirty="0"/>
              <a:t>"Voie Inspiration"</a:t>
            </a:r>
            <a:r>
              <a:rPr lang="fr-FR" sz="1600" dirty="0"/>
              <a:t> pour faire grimper le panier des explorateurs. En les gardant le plus possible sur le site » (recettes de cuisine, suggestions, produits complémentaire, tendance du moment)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dirty="0"/>
          </a:p>
          <a:p>
            <a:endParaRPr lang="fr-FR" dirty="0"/>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7</a:t>
            </a:fld>
            <a:endParaRPr lang="fr-FR"/>
          </a:p>
        </p:txBody>
      </p:sp>
    </p:spTree>
    <p:extLst>
      <p:ext uri="{BB962C8B-B14F-4D97-AF65-F5344CB8AC3E}">
        <p14:creationId xmlns:p14="http://schemas.microsoft.com/office/powerpoint/2010/main" val="393628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qui ressort globalement c’est que</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8</a:t>
            </a:fld>
            <a:endParaRPr lang="fr-FR"/>
          </a:p>
        </p:txBody>
      </p:sp>
    </p:spTree>
    <p:extLst>
      <p:ext uri="{BB962C8B-B14F-4D97-AF65-F5344CB8AC3E}">
        <p14:creationId xmlns:p14="http://schemas.microsoft.com/office/powerpoint/2010/main" val="2124810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Voilà pour ce bilan, </a:t>
            </a:r>
            <a:r>
              <a:rPr lang="fr-FR" dirty="0" err="1"/>
              <a:t>frederic</a:t>
            </a:r>
            <a:r>
              <a:rPr lang="fr-FR" dirty="0"/>
              <a:t>. Avez-vous des questions ?</a:t>
            </a:r>
          </a:p>
        </p:txBody>
      </p:sp>
      <p:sp>
        <p:nvSpPr>
          <p:cNvPr id="4" name="Espace réservé du numéro de diapositive 3"/>
          <p:cNvSpPr>
            <a:spLocks noGrp="1"/>
          </p:cNvSpPr>
          <p:nvPr>
            <p:ph type="sldNum" sz="quarter" idx="5"/>
          </p:nvPr>
        </p:nvSpPr>
        <p:spPr/>
        <p:txBody>
          <a:bodyPr/>
          <a:lstStyle/>
          <a:p>
            <a:fld id="{5FF09FE7-2F93-8F48-A00D-ACF2D0CA80E9}" type="slidenum">
              <a:rPr lang="fr-FR" smtClean="0"/>
              <a:t>9</a:t>
            </a:fld>
            <a:endParaRPr lang="fr-FR"/>
          </a:p>
        </p:txBody>
      </p:sp>
    </p:spTree>
    <p:extLst>
      <p:ext uri="{BB962C8B-B14F-4D97-AF65-F5344CB8AC3E}">
        <p14:creationId xmlns:p14="http://schemas.microsoft.com/office/powerpoint/2010/main" val="41842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691E66-C35E-5D46-9936-89CEE09653D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8A0CEE5-795D-B96C-3F6B-C654A1023E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384E305-8EE6-AD87-58DB-968A2B20F420}"/>
              </a:ext>
            </a:extLst>
          </p:cNvPr>
          <p:cNvSpPr>
            <a:spLocks noGrp="1"/>
          </p:cNvSpPr>
          <p:nvPr>
            <p:ph type="dt" sz="half" idx="10"/>
          </p:nvPr>
        </p:nvSpPr>
        <p:spPr/>
        <p:txBody>
          <a:bodyPr/>
          <a:lstStyle/>
          <a:p>
            <a:fld id="{4DDBE694-6771-C448-8EC3-AB90AEDA4A7F}" type="datetime1">
              <a:rPr lang="fr-FR" smtClean="0"/>
              <a:t>29/01/2026</a:t>
            </a:fld>
            <a:endParaRPr lang="fr-FR"/>
          </a:p>
        </p:txBody>
      </p:sp>
      <p:sp>
        <p:nvSpPr>
          <p:cNvPr id="5" name="Espace réservé du pied de page 4">
            <a:extLst>
              <a:ext uri="{FF2B5EF4-FFF2-40B4-BE49-F238E27FC236}">
                <a16:creationId xmlns:a16="http://schemas.microsoft.com/office/drawing/2014/main" id="{079FE07F-682F-9002-A08C-EE93BC648B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9F97DF7-A80E-259A-C38F-D5532659794F}"/>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2963358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0D632A-6870-4F66-046D-92776207C7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8E4BF9A-390A-7C7C-811F-80F522BC8A5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1D69B6-096B-A241-A91B-93A0970D3A46}"/>
              </a:ext>
            </a:extLst>
          </p:cNvPr>
          <p:cNvSpPr>
            <a:spLocks noGrp="1"/>
          </p:cNvSpPr>
          <p:nvPr>
            <p:ph type="dt" sz="half" idx="10"/>
          </p:nvPr>
        </p:nvSpPr>
        <p:spPr/>
        <p:txBody>
          <a:bodyPr/>
          <a:lstStyle/>
          <a:p>
            <a:fld id="{5B620636-AF15-704B-8B92-16BD1204FA13}" type="datetime1">
              <a:rPr lang="fr-FR" smtClean="0"/>
              <a:t>29/01/2026</a:t>
            </a:fld>
            <a:endParaRPr lang="fr-FR"/>
          </a:p>
        </p:txBody>
      </p:sp>
      <p:sp>
        <p:nvSpPr>
          <p:cNvPr id="5" name="Espace réservé du pied de page 4">
            <a:extLst>
              <a:ext uri="{FF2B5EF4-FFF2-40B4-BE49-F238E27FC236}">
                <a16:creationId xmlns:a16="http://schemas.microsoft.com/office/drawing/2014/main" id="{FC7A2510-97CB-98FA-44BF-7D76D09C19F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F8DFFA-B04B-D287-44A8-561B3CFF6915}"/>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571496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2BBDD1-9EC0-270F-BA70-8739298B083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04DC27A-88B3-EA1B-61F8-059FAA4B11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4759102-B3CA-325A-43E7-35928A3FFEC8}"/>
              </a:ext>
            </a:extLst>
          </p:cNvPr>
          <p:cNvSpPr>
            <a:spLocks noGrp="1"/>
          </p:cNvSpPr>
          <p:nvPr>
            <p:ph type="dt" sz="half" idx="10"/>
          </p:nvPr>
        </p:nvSpPr>
        <p:spPr/>
        <p:txBody>
          <a:bodyPr/>
          <a:lstStyle/>
          <a:p>
            <a:fld id="{5796F08E-D74D-8C42-86C5-F4F84B49DCC2}" type="datetime1">
              <a:rPr lang="fr-FR" smtClean="0"/>
              <a:t>29/01/2026</a:t>
            </a:fld>
            <a:endParaRPr lang="fr-FR"/>
          </a:p>
        </p:txBody>
      </p:sp>
      <p:sp>
        <p:nvSpPr>
          <p:cNvPr id="5" name="Espace réservé du pied de page 4">
            <a:extLst>
              <a:ext uri="{FF2B5EF4-FFF2-40B4-BE49-F238E27FC236}">
                <a16:creationId xmlns:a16="http://schemas.microsoft.com/office/drawing/2014/main" id="{C7F4F015-FA09-1328-66E6-25EC3294ABB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27F4251-9720-2F89-8A6D-BA7F24CD7FF0}"/>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3345332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C9B627-BA5C-FB32-6232-00D340E4318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D793BD6-9C4E-C8BE-D02E-99B4E2D0D61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3C89A68-56C0-CC80-125C-FA44D0F7902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80E6E97-B0A2-BE05-758A-8391058B86CC}"/>
              </a:ext>
            </a:extLst>
          </p:cNvPr>
          <p:cNvSpPr>
            <a:spLocks noGrp="1"/>
          </p:cNvSpPr>
          <p:nvPr>
            <p:ph type="dt" sz="half" idx="10"/>
          </p:nvPr>
        </p:nvSpPr>
        <p:spPr/>
        <p:txBody>
          <a:bodyPr/>
          <a:lstStyle/>
          <a:p>
            <a:fld id="{4EA22342-97BB-964F-B4DE-DE48CC51C836}" type="datetime1">
              <a:rPr lang="fr-FR" smtClean="0"/>
              <a:t>29/01/2026</a:t>
            </a:fld>
            <a:endParaRPr lang="fr-FR"/>
          </a:p>
        </p:txBody>
      </p:sp>
      <p:sp>
        <p:nvSpPr>
          <p:cNvPr id="6" name="Espace réservé du pied de page 5">
            <a:extLst>
              <a:ext uri="{FF2B5EF4-FFF2-40B4-BE49-F238E27FC236}">
                <a16:creationId xmlns:a16="http://schemas.microsoft.com/office/drawing/2014/main" id="{C495FE87-A3E0-F9F8-DFED-3F8064A3DC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FC46B0F-56B1-7BC0-0D26-857E4E405823}"/>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2759383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FB50FF-6268-57C2-48AB-13C40090EFD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46A8381-FD46-6057-222D-0DDD38FC96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B37D2A5-DEC5-3D46-DD1F-E26CD6B0940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5639090-0B0D-E4AC-3DE6-B68BFAC7B0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33543C9-F419-6687-D735-C2A67478F6E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5C832C1-3F2B-E80A-A316-2CBBACA55C3D}"/>
              </a:ext>
            </a:extLst>
          </p:cNvPr>
          <p:cNvSpPr>
            <a:spLocks noGrp="1"/>
          </p:cNvSpPr>
          <p:nvPr>
            <p:ph type="dt" sz="half" idx="10"/>
          </p:nvPr>
        </p:nvSpPr>
        <p:spPr/>
        <p:txBody>
          <a:bodyPr/>
          <a:lstStyle/>
          <a:p>
            <a:fld id="{6DF5D901-B678-BD4A-A0F3-487C127FA842}" type="datetime1">
              <a:rPr lang="fr-FR" smtClean="0"/>
              <a:t>29/01/2026</a:t>
            </a:fld>
            <a:endParaRPr lang="fr-FR"/>
          </a:p>
        </p:txBody>
      </p:sp>
      <p:sp>
        <p:nvSpPr>
          <p:cNvPr id="8" name="Espace réservé du pied de page 7">
            <a:extLst>
              <a:ext uri="{FF2B5EF4-FFF2-40B4-BE49-F238E27FC236}">
                <a16:creationId xmlns:a16="http://schemas.microsoft.com/office/drawing/2014/main" id="{40BB3A30-3999-DFF8-8BEC-77FEBA9F5E9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AB08001-8FF0-AE26-8A6F-3D19CF5DF76D}"/>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3918755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E29268-187A-DFC7-57C5-A0A6E1ECD56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6052080-79DD-878D-8E76-88813B48430B}"/>
              </a:ext>
            </a:extLst>
          </p:cNvPr>
          <p:cNvSpPr>
            <a:spLocks noGrp="1"/>
          </p:cNvSpPr>
          <p:nvPr>
            <p:ph type="dt" sz="half" idx="10"/>
          </p:nvPr>
        </p:nvSpPr>
        <p:spPr/>
        <p:txBody>
          <a:bodyPr/>
          <a:lstStyle/>
          <a:p>
            <a:fld id="{FA95F6DB-E502-B54D-9291-03F3386CD62E}" type="datetime1">
              <a:rPr lang="fr-FR" smtClean="0"/>
              <a:t>29/01/2026</a:t>
            </a:fld>
            <a:endParaRPr lang="fr-FR"/>
          </a:p>
        </p:txBody>
      </p:sp>
      <p:sp>
        <p:nvSpPr>
          <p:cNvPr id="4" name="Espace réservé du pied de page 3">
            <a:extLst>
              <a:ext uri="{FF2B5EF4-FFF2-40B4-BE49-F238E27FC236}">
                <a16:creationId xmlns:a16="http://schemas.microsoft.com/office/drawing/2014/main" id="{C4737A3D-EE41-663B-407A-96F2E2E54E6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DFB861F-84B7-DA6F-2585-4323C0449EAC}"/>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3439494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7B2ADCD-00DD-8A44-F6DE-DBF94446CA65}"/>
              </a:ext>
            </a:extLst>
          </p:cNvPr>
          <p:cNvSpPr>
            <a:spLocks noGrp="1"/>
          </p:cNvSpPr>
          <p:nvPr>
            <p:ph type="dt" sz="half" idx="10"/>
          </p:nvPr>
        </p:nvSpPr>
        <p:spPr/>
        <p:txBody>
          <a:bodyPr/>
          <a:lstStyle/>
          <a:p>
            <a:fld id="{C288E613-D32E-FE41-9A50-0C605F999A11}" type="datetime1">
              <a:rPr lang="fr-FR" smtClean="0"/>
              <a:t>29/01/2026</a:t>
            </a:fld>
            <a:endParaRPr lang="fr-FR"/>
          </a:p>
        </p:txBody>
      </p:sp>
      <p:sp>
        <p:nvSpPr>
          <p:cNvPr id="3" name="Espace réservé du pied de page 2">
            <a:extLst>
              <a:ext uri="{FF2B5EF4-FFF2-40B4-BE49-F238E27FC236}">
                <a16:creationId xmlns:a16="http://schemas.microsoft.com/office/drawing/2014/main" id="{8198FA9A-6738-5087-4134-021C9AB1A8B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FACCCED-ABE6-A672-50B9-BD2905C0CE74}"/>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398151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9CEEC2-0648-75AC-30F2-DB2628995A4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1007878-83DD-44AF-2E49-16F694F9BF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4F5CF3B-3C74-B46B-9CCF-8E7378F55B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115D96A-E0C6-CFAC-7999-EB2FF74FBA48}"/>
              </a:ext>
            </a:extLst>
          </p:cNvPr>
          <p:cNvSpPr>
            <a:spLocks noGrp="1"/>
          </p:cNvSpPr>
          <p:nvPr>
            <p:ph type="dt" sz="half" idx="10"/>
          </p:nvPr>
        </p:nvSpPr>
        <p:spPr/>
        <p:txBody>
          <a:bodyPr/>
          <a:lstStyle/>
          <a:p>
            <a:fld id="{0EECD203-5814-1148-B4DF-2B053B41FA02}" type="datetime1">
              <a:rPr lang="fr-FR" smtClean="0"/>
              <a:t>29/01/2026</a:t>
            </a:fld>
            <a:endParaRPr lang="fr-FR"/>
          </a:p>
        </p:txBody>
      </p:sp>
      <p:sp>
        <p:nvSpPr>
          <p:cNvPr id="6" name="Espace réservé du pied de page 5">
            <a:extLst>
              <a:ext uri="{FF2B5EF4-FFF2-40B4-BE49-F238E27FC236}">
                <a16:creationId xmlns:a16="http://schemas.microsoft.com/office/drawing/2014/main" id="{E70950AB-F3EA-16C2-3CD0-15313875EBD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B4AA579-6A12-A6F8-B51D-F1C60DEA0717}"/>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121010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B887B4-CBB0-9E6C-39F4-B8D54FFA29C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1E568AA-237C-36D9-37F1-42B880267E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E5B479C-8334-FF2B-6615-13F2A7199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18243D6-0BA2-57E9-8A18-DFF4AD17CC56}"/>
              </a:ext>
            </a:extLst>
          </p:cNvPr>
          <p:cNvSpPr>
            <a:spLocks noGrp="1"/>
          </p:cNvSpPr>
          <p:nvPr>
            <p:ph type="dt" sz="half" idx="10"/>
          </p:nvPr>
        </p:nvSpPr>
        <p:spPr/>
        <p:txBody>
          <a:bodyPr/>
          <a:lstStyle/>
          <a:p>
            <a:fld id="{B0F045CE-BACC-1C44-83D6-F240FE87752B}" type="datetime1">
              <a:rPr lang="fr-FR" smtClean="0"/>
              <a:t>29/01/2026</a:t>
            </a:fld>
            <a:endParaRPr lang="fr-FR"/>
          </a:p>
        </p:txBody>
      </p:sp>
      <p:sp>
        <p:nvSpPr>
          <p:cNvPr id="6" name="Espace réservé du pied de page 5">
            <a:extLst>
              <a:ext uri="{FF2B5EF4-FFF2-40B4-BE49-F238E27FC236}">
                <a16:creationId xmlns:a16="http://schemas.microsoft.com/office/drawing/2014/main" id="{8AF6C451-359D-E88D-0661-AF6979E94FB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85FCF4B-4B28-2845-EC57-E52929F51137}"/>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761246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F32BBB-F1E2-B9CA-5322-3DB6D507CA3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310A0B9-F5F7-E002-417C-2AD55B1231F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4A848D9-E4D4-6DDF-B573-995B08B3980A}"/>
              </a:ext>
            </a:extLst>
          </p:cNvPr>
          <p:cNvSpPr>
            <a:spLocks noGrp="1"/>
          </p:cNvSpPr>
          <p:nvPr>
            <p:ph type="dt" sz="half" idx="10"/>
          </p:nvPr>
        </p:nvSpPr>
        <p:spPr/>
        <p:txBody>
          <a:bodyPr/>
          <a:lstStyle/>
          <a:p>
            <a:fld id="{E6BD6883-DB39-8B49-87FB-8C06F820842F}" type="datetime1">
              <a:rPr lang="fr-FR" smtClean="0"/>
              <a:t>29/01/2026</a:t>
            </a:fld>
            <a:endParaRPr lang="fr-FR"/>
          </a:p>
        </p:txBody>
      </p:sp>
      <p:sp>
        <p:nvSpPr>
          <p:cNvPr id="5" name="Espace réservé du pied de page 4">
            <a:extLst>
              <a:ext uri="{FF2B5EF4-FFF2-40B4-BE49-F238E27FC236}">
                <a16:creationId xmlns:a16="http://schemas.microsoft.com/office/drawing/2014/main" id="{668C5D73-5F8B-D498-6143-A4000BE2F40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014DEA7-81C7-02E3-16A7-0B4E4602DBDF}"/>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3057727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CE03108-6C64-2C77-F678-074CEBE178A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08CCCF8-7A76-CEDC-6B9F-B34EAFF3172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162A45-EFDC-3B4E-4490-954F7E97EE27}"/>
              </a:ext>
            </a:extLst>
          </p:cNvPr>
          <p:cNvSpPr>
            <a:spLocks noGrp="1"/>
          </p:cNvSpPr>
          <p:nvPr>
            <p:ph type="dt" sz="half" idx="10"/>
          </p:nvPr>
        </p:nvSpPr>
        <p:spPr/>
        <p:txBody>
          <a:bodyPr/>
          <a:lstStyle/>
          <a:p>
            <a:fld id="{BC92BA55-79DF-BC44-A6A7-3802E36DB2CE}" type="datetime1">
              <a:rPr lang="fr-FR" smtClean="0"/>
              <a:t>29/01/2026</a:t>
            </a:fld>
            <a:endParaRPr lang="fr-FR"/>
          </a:p>
        </p:txBody>
      </p:sp>
      <p:sp>
        <p:nvSpPr>
          <p:cNvPr id="5" name="Espace réservé du pied de page 4">
            <a:extLst>
              <a:ext uri="{FF2B5EF4-FFF2-40B4-BE49-F238E27FC236}">
                <a16:creationId xmlns:a16="http://schemas.microsoft.com/office/drawing/2014/main" id="{A6632792-1533-6012-6FF0-A17D00B18A4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7D4DC16-739B-63E1-9E76-87C1A45F28F7}"/>
              </a:ext>
            </a:extLst>
          </p:cNvPr>
          <p:cNvSpPr>
            <a:spLocks noGrp="1"/>
          </p:cNvSpPr>
          <p:nvPr>
            <p:ph type="sldNum" sz="quarter" idx="12"/>
          </p:nvPr>
        </p:nvSpPr>
        <p:spPr/>
        <p:txBody>
          <a:bodyPr/>
          <a:lstStyle/>
          <a:p>
            <a:fld id="{A41E28AE-CBDB-B94F-B20D-85287AF68DBF}" type="slidenum">
              <a:rPr lang="fr-FR" smtClean="0"/>
              <a:t>‹N°›</a:t>
            </a:fld>
            <a:endParaRPr lang="fr-FR"/>
          </a:p>
        </p:txBody>
      </p:sp>
    </p:spTree>
    <p:extLst>
      <p:ext uri="{BB962C8B-B14F-4D97-AF65-F5344CB8AC3E}">
        <p14:creationId xmlns:p14="http://schemas.microsoft.com/office/powerpoint/2010/main" val="968500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92A6A4B-9571-0CD6-0AFA-7DDC6ACD47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8F1F463-7281-90C2-C253-5D826E3E0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EC87228-B4CE-6562-4522-1102CE198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4D9BC-1340-BE47-BD43-E4D1693248E5}" type="datetime1">
              <a:rPr lang="fr-FR" smtClean="0"/>
              <a:t>29/01/2026</a:t>
            </a:fld>
            <a:endParaRPr lang="fr-FR"/>
          </a:p>
        </p:txBody>
      </p:sp>
      <p:sp>
        <p:nvSpPr>
          <p:cNvPr id="5" name="Espace réservé du pied de page 4">
            <a:extLst>
              <a:ext uri="{FF2B5EF4-FFF2-40B4-BE49-F238E27FC236}">
                <a16:creationId xmlns:a16="http://schemas.microsoft.com/office/drawing/2014/main" id="{F5F58617-158E-C2B8-DF30-CE85E0E0F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136518D-A6DD-FD40-4878-C52031ABD2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1E28AE-CBDB-B94F-B20D-85287AF68DBF}" type="slidenum">
              <a:rPr lang="fr-FR" smtClean="0"/>
              <a:t>‹N°›</a:t>
            </a:fld>
            <a:endParaRPr lang="fr-FR"/>
          </a:p>
        </p:txBody>
      </p:sp>
    </p:spTree>
    <p:extLst>
      <p:ext uri="{BB962C8B-B14F-4D97-AF65-F5344CB8AC3E}">
        <p14:creationId xmlns:p14="http://schemas.microsoft.com/office/powerpoint/2010/main" val="1001019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re 4">
            <a:extLst>
              <a:ext uri="{FF2B5EF4-FFF2-40B4-BE49-F238E27FC236}">
                <a16:creationId xmlns:a16="http://schemas.microsoft.com/office/drawing/2014/main" id="{2D9B453C-58EB-4EF3-E2A0-5F4E2BB9FCDE}"/>
              </a:ext>
            </a:extLst>
          </p:cNvPr>
          <p:cNvSpPr>
            <a:spLocks noGrp="1"/>
          </p:cNvSpPr>
          <p:nvPr>
            <p:ph type="ctrTitle"/>
          </p:nvPr>
        </p:nvSpPr>
        <p:spPr>
          <a:xfrm>
            <a:off x="660042" y="891652"/>
            <a:ext cx="4412021" cy="3030724"/>
          </a:xfrm>
        </p:spPr>
        <p:txBody>
          <a:bodyPr anchor="b">
            <a:normAutofit/>
          </a:bodyPr>
          <a:lstStyle/>
          <a:p>
            <a:pPr algn="r"/>
            <a:r>
              <a:rPr lang="fr-FR" sz="4000" dirty="0">
                <a:solidFill>
                  <a:srgbClr val="FFFFFF"/>
                </a:solidFill>
              </a:rPr>
              <a:t>Rapport Mensuel des Actions Marketing</a:t>
            </a:r>
          </a:p>
        </p:txBody>
      </p:sp>
      <p:sp>
        <p:nvSpPr>
          <p:cNvPr id="6" name="Sous-titre 5">
            <a:extLst>
              <a:ext uri="{FF2B5EF4-FFF2-40B4-BE49-F238E27FC236}">
                <a16:creationId xmlns:a16="http://schemas.microsoft.com/office/drawing/2014/main" id="{25C8EC18-BB6B-7A84-95C7-FF67484951DC}"/>
              </a:ext>
            </a:extLst>
          </p:cNvPr>
          <p:cNvSpPr>
            <a:spLocks noGrp="1"/>
          </p:cNvSpPr>
          <p:nvPr>
            <p:ph type="subTitle" idx="1"/>
          </p:nvPr>
        </p:nvSpPr>
        <p:spPr>
          <a:xfrm>
            <a:off x="945791" y="4745317"/>
            <a:ext cx="4126272" cy="1375145"/>
          </a:xfrm>
        </p:spPr>
        <p:txBody>
          <a:bodyPr>
            <a:normAutofit/>
          </a:bodyPr>
          <a:lstStyle/>
          <a:p>
            <a:pPr algn="r"/>
            <a:r>
              <a:rPr lang="fr-FR" dirty="0">
                <a:solidFill>
                  <a:srgbClr val="FFFFFF"/>
                </a:solidFill>
              </a:rPr>
              <a:t>Analyse stratégique de la transition et perspectives de croissance.</a:t>
            </a:r>
          </a:p>
        </p:txBody>
      </p:sp>
      <p:pic>
        <p:nvPicPr>
          <p:cNvPr id="9" name="Image 8">
            <a:extLst>
              <a:ext uri="{FF2B5EF4-FFF2-40B4-BE49-F238E27FC236}">
                <a16:creationId xmlns:a16="http://schemas.microsoft.com/office/drawing/2014/main" id="{AD24FF25-6451-D33C-DB2D-C681275E8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347" y="1982254"/>
            <a:ext cx="6602887" cy="2476081"/>
          </a:xfrm>
          <a:prstGeom prst="rect">
            <a:avLst/>
          </a:prstGeom>
        </p:spPr>
      </p:pic>
      <p:sp>
        <p:nvSpPr>
          <p:cNvPr id="27" name="ZoneTexte 26">
            <a:extLst>
              <a:ext uri="{FF2B5EF4-FFF2-40B4-BE49-F238E27FC236}">
                <a16:creationId xmlns:a16="http://schemas.microsoft.com/office/drawing/2014/main" id="{19468907-7519-0236-4109-17B3D64938FE}"/>
              </a:ext>
            </a:extLst>
          </p:cNvPr>
          <p:cNvSpPr txBox="1"/>
          <p:nvPr/>
        </p:nvSpPr>
        <p:spPr>
          <a:xfrm>
            <a:off x="425885" y="250521"/>
            <a:ext cx="859531" cy="369332"/>
          </a:xfrm>
          <a:prstGeom prst="rect">
            <a:avLst/>
          </a:prstGeom>
          <a:noFill/>
        </p:spPr>
        <p:txBody>
          <a:bodyPr wrap="square" rtlCol="0">
            <a:spAutoFit/>
          </a:bodyPr>
          <a:lstStyle/>
          <a:p>
            <a:r>
              <a:rPr lang="fr-FR" dirty="0">
                <a:solidFill>
                  <a:srgbClr val="FFFFFF"/>
                </a:solidFill>
              </a:rPr>
              <a:t>Février</a:t>
            </a:r>
            <a:endParaRPr lang="fr-FR" dirty="0"/>
          </a:p>
        </p:txBody>
      </p:sp>
    </p:spTree>
    <p:extLst>
      <p:ext uri="{BB962C8B-B14F-4D97-AF65-F5344CB8AC3E}">
        <p14:creationId xmlns:p14="http://schemas.microsoft.com/office/powerpoint/2010/main" val="2910864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6CD017D0-6F6D-09F6-7EB9-5B328B8F7865}"/>
              </a:ext>
            </a:extLst>
          </p:cNvPr>
          <p:cNvSpPr>
            <a:spLocks noGrp="1"/>
          </p:cNvSpPr>
          <p:nvPr>
            <p:ph type="title"/>
          </p:nvPr>
        </p:nvSpPr>
        <p:spPr>
          <a:xfrm>
            <a:off x="826396" y="586855"/>
            <a:ext cx="4230100" cy="3387497"/>
          </a:xfrm>
        </p:spPr>
        <p:txBody>
          <a:bodyPr anchor="b">
            <a:normAutofit/>
          </a:bodyPr>
          <a:lstStyle/>
          <a:p>
            <a:pPr algn="r"/>
            <a:r>
              <a:rPr lang="fr-FR" sz="4000" dirty="0">
                <a:solidFill>
                  <a:srgbClr val="FFFFFF"/>
                </a:solidFill>
              </a:rPr>
              <a:t>Sommaire</a:t>
            </a:r>
          </a:p>
        </p:txBody>
      </p:sp>
      <p:sp>
        <p:nvSpPr>
          <p:cNvPr id="3" name="Espace réservé du contenu 2">
            <a:extLst>
              <a:ext uri="{FF2B5EF4-FFF2-40B4-BE49-F238E27FC236}">
                <a16:creationId xmlns:a16="http://schemas.microsoft.com/office/drawing/2014/main" id="{689E7E25-9850-0D31-1A15-EA7F414A60B1}"/>
              </a:ext>
            </a:extLst>
          </p:cNvPr>
          <p:cNvSpPr>
            <a:spLocks noGrp="1"/>
          </p:cNvSpPr>
          <p:nvPr>
            <p:ph idx="1"/>
          </p:nvPr>
        </p:nvSpPr>
        <p:spPr>
          <a:xfrm>
            <a:off x="6503158" y="649480"/>
            <a:ext cx="4862447" cy="5546047"/>
          </a:xfrm>
        </p:spPr>
        <p:txBody>
          <a:bodyPr anchor="ctr">
            <a:normAutofit/>
          </a:bodyPr>
          <a:lstStyle/>
          <a:p>
            <a:pPr marL="0" indent="0">
              <a:buNone/>
            </a:pPr>
            <a:r>
              <a:rPr lang="fr-FR" sz="2000" b="1" dirty="0"/>
              <a:t>1) Changement de cap :</a:t>
            </a:r>
            <a:r>
              <a:rPr lang="fr-FR" sz="2000" dirty="0"/>
              <a:t> Le succès de la transition vers l'alimentaire.</a:t>
            </a:r>
          </a:p>
          <a:p>
            <a:pPr marL="0" indent="0">
              <a:buNone/>
            </a:pPr>
            <a:r>
              <a:rPr lang="fr-FR" sz="2000" b="1" dirty="0"/>
              <a:t>2) Explosion de la visibilité :</a:t>
            </a:r>
            <a:r>
              <a:rPr lang="fr-FR" sz="2000" dirty="0"/>
              <a:t> Une audience multipliée par 30.</a:t>
            </a:r>
          </a:p>
          <a:p>
            <a:pPr marL="0" indent="0">
              <a:buNone/>
            </a:pPr>
            <a:r>
              <a:rPr lang="fr-FR" sz="2000" b="1" dirty="0"/>
              <a:t>3) Efficacité commerciale :</a:t>
            </a:r>
            <a:r>
              <a:rPr lang="fr-FR" sz="2000" dirty="0"/>
              <a:t> Un taux de conversion solide.</a:t>
            </a:r>
          </a:p>
          <a:p>
            <a:pPr marL="0" indent="0">
              <a:buNone/>
            </a:pPr>
            <a:r>
              <a:rPr lang="fr-FR" sz="2000" b="1" dirty="0"/>
              <a:t>4) Comportement d'achat :</a:t>
            </a:r>
            <a:r>
              <a:rPr lang="fr-FR" sz="2000" dirty="0"/>
              <a:t> Pourquoi le temps passé est notre moteur.</a:t>
            </a:r>
          </a:p>
          <a:p>
            <a:pPr marL="0" indent="0">
              <a:buNone/>
            </a:pPr>
            <a:r>
              <a:rPr lang="fr-FR" sz="2000" b="1" dirty="0"/>
              <a:t>5) Vision stratégique :</a:t>
            </a:r>
            <a:r>
              <a:rPr lang="fr-FR" sz="2000" dirty="0"/>
              <a:t> Dépasser les objectifs grâce à la personnalisation.</a:t>
            </a:r>
          </a:p>
          <a:p>
            <a:r>
              <a:rPr lang="fr-FR" sz="2000" b="1" dirty="0"/>
              <a:t>Conclusion Finale</a:t>
            </a:r>
          </a:p>
        </p:txBody>
      </p:sp>
      <p:pic>
        <p:nvPicPr>
          <p:cNvPr id="4" name="Image 3">
            <a:extLst>
              <a:ext uri="{FF2B5EF4-FFF2-40B4-BE49-F238E27FC236}">
                <a16:creationId xmlns:a16="http://schemas.microsoft.com/office/drawing/2014/main" id="{38862AE9-4F00-7B00-8D71-4E9786B58D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Tree>
    <p:extLst>
      <p:ext uri="{BB962C8B-B14F-4D97-AF65-F5344CB8AC3E}">
        <p14:creationId xmlns:p14="http://schemas.microsoft.com/office/powerpoint/2010/main" val="2739448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E84D0-871C-1540-C040-CC8B26927D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BB0017-9C29-3776-D7E1-52BA649AFAA0}"/>
              </a:ext>
            </a:extLst>
          </p:cNvPr>
          <p:cNvSpPr>
            <a:spLocks noGrp="1"/>
          </p:cNvSpPr>
          <p:nvPr>
            <p:ph type="title"/>
          </p:nvPr>
        </p:nvSpPr>
        <p:spPr>
          <a:xfrm>
            <a:off x="839787" y="457200"/>
            <a:ext cx="3932237" cy="1600200"/>
          </a:xfrm>
        </p:spPr>
        <p:txBody>
          <a:bodyPr anchor="ctr">
            <a:normAutofit/>
          </a:bodyPr>
          <a:lstStyle/>
          <a:p>
            <a:pPr algn="ctr"/>
            <a:r>
              <a:rPr lang="fr-FR" sz="2400" b="1" dirty="0"/>
              <a:t>Notre nouveau cap : L'alimentation comme moteur principal</a:t>
            </a:r>
          </a:p>
        </p:txBody>
      </p:sp>
      <p:pic>
        <p:nvPicPr>
          <p:cNvPr id="5" name="Espace réservé du contenu 4" descr="Une image contenant texte, capture d’écran, ligne, Caractère coloré&#10;&#10;Le contenu généré par l’IA peut être incorrect.">
            <a:extLst>
              <a:ext uri="{FF2B5EF4-FFF2-40B4-BE49-F238E27FC236}">
                <a16:creationId xmlns:a16="http://schemas.microsoft.com/office/drawing/2014/main" id="{F1224433-C92C-E068-6E3F-EC566BE9A019}"/>
              </a:ext>
            </a:extLst>
          </p:cNvPr>
          <p:cNvPicPr>
            <a:picLocks noGrp="1" noChangeAspect="1"/>
          </p:cNvPicPr>
          <p:nvPr>
            <p:ph idx="1"/>
          </p:nvPr>
        </p:nvPicPr>
        <p:blipFill>
          <a:blip r:embed="rId3"/>
          <a:stretch>
            <a:fillRect/>
          </a:stretch>
        </p:blipFill>
        <p:spPr>
          <a:xfrm>
            <a:off x="5370652" y="323019"/>
            <a:ext cx="6821347" cy="6211961"/>
          </a:xfrm>
        </p:spPr>
      </p:pic>
      <p:sp>
        <p:nvSpPr>
          <p:cNvPr id="19" name="Espace réservé du texte 18">
            <a:extLst>
              <a:ext uri="{FF2B5EF4-FFF2-40B4-BE49-F238E27FC236}">
                <a16:creationId xmlns:a16="http://schemas.microsoft.com/office/drawing/2014/main" id="{0CA89EF2-9135-1E90-7634-EADDC94320FD}"/>
              </a:ext>
            </a:extLst>
          </p:cNvPr>
          <p:cNvSpPr>
            <a:spLocks noGrp="1"/>
          </p:cNvSpPr>
          <p:nvPr>
            <p:ph type="body" sz="half" idx="2"/>
          </p:nvPr>
        </p:nvSpPr>
        <p:spPr/>
        <p:txBody>
          <a:bodyPr>
            <a:normAutofit/>
          </a:bodyPr>
          <a:lstStyle/>
          <a:p>
            <a:pPr algn="ctr"/>
            <a:r>
              <a:rPr lang="fr-FR" dirty="0"/>
              <a:t>le </a:t>
            </a:r>
            <a:r>
              <a:rPr lang="fr-FR" dirty="0">
                <a:solidFill>
                  <a:srgbClr val="FF0000"/>
                </a:solidFill>
              </a:rPr>
              <a:t>High-Tech </a:t>
            </a:r>
            <a:r>
              <a:rPr lang="fr-FR" dirty="0"/>
              <a:t>a complètement disparu en février. C’est le résultat direct de notre décision </a:t>
            </a:r>
            <a:r>
              <a:rPr lang="fr-FR" dirty="0">
                <a:solidFill>
                  <a:srgbClr val="FF0000"/>
                </a:solidFill>
              </a:rPr>
              <a:t>d'arrêter ce segment</a:t>
            </a:r>
            <a:r>
              <a:rPr lang="fr-FR" dirty="0"/>
              <a:t>.</a:t>
            </a:r>
            <a:br>
              <a:rPr lang="fr-FR" dirty="0"/>
            </a:br>
            <a:br>
              <a:rPr lang="fr-FR" dirty="0"/>
            </a:br>
            <a:r>
              <a:rPr lang="fr-FR" dirty="0"/>
              <a:t>La part de la </a:t>
            </a:r>
            <a:r>
              <a:rPr lang="fr-FR" b="1" dirty="0">
                <a:solidFill>
                  <a:srgbClr val="4C72B1"/>
                </a:solidFill>
              </a:rPr>
              <a:t>nourriture </a:t>
            </a:r>
            <a:r>
              <a:rPr lang="fr-FR" dirty="0"/>
              <a:t>ne fait que </a:t>
            </a:r>
            <a:r>
              <a:rPr lang="fr-FR" b="1" dirty="0"/>
              <a:t>grandir chaque mois</a:t>
            </a:r>
            <a:r>
              <a:rPr lang="fr-FR" dirty="0"/>
              <a:t>. C'est elle qui devient </a:t>
            </a:r>
            <a:r>
              <a:rPr lang="fr-FR" b="1" dirty="0"/>
              <a:t>notre moteur.</a:t>
            </a:r>
            <a:br>
              <a:rPr lang="fr-FR" b="1" dirty="0"/>
            </a:br>
            <a:br>
              <a:rPr lang="fr-FR" b="1" dirty="0"/>
            </a:br>
            <a:r>
              <a:rPr lang="fr-FR" dirty="0"/>
              <a:t>On vend des produits </a:t>
            </a:r>
            <a:r>
              <a:rPr lang="fr-FR" b="1" dirty="0"/>
              <a:t>moins chers</a:t>
            </a:r>
            <a:r>
              <a:rPr lang="fr-FR" dirty="0"/>
              <a:t>, mais on en vend à plus de monde et plus souvent. </a:t>
            </a:r>
            <a:br>
              <a:rPr lang="fr-FR" dirty="0"/>
            </a:br>
            <a:br>
              <a:rPr lang="fr-FR" dirty="0"/>
            </a:br>
            <a:r>
              <a:rPr lang="fr-FR" dirty="0"/>
              <a:t>Cette montée en puissance va nous permettre de retrouver une croissance très forte, autour de </a:t>
            </a:r>
            <a:r>
              <a:rPr lang="fr-FR" b="1" dirty="0"/>
              <a:t>80 000 € de CA mensuel total</a:t>
            </a:r>
            <a:r>
              <a:rPr lang="fr-FR" dirty="0"/>
              <a:t>, dès le mois prochain.</a:t>
            </a:r>
            <a:endParaRPr lang="fr-FR" b="1" dirty="0"/>
          </a:p>
        </p:txBody>
      </p:sp>
      <p:pic>
        <p:nvPicPr>
          <p:cNvPr id="9" name="Image 8">
            <a:extLst>
              <a:ext uri="{FF2B5EF4-FFF2-40B4-BE49-F238E27FC236}">
                <a16:creationId xmlns:a16="http://schemas.microsoft.com/office/drawing/2014/main" id="{E3809B0F-B1EE-BD26-9B19-1E217B029438}"/>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
        <p:nvSpPr>
          <p:cNvPr id="21" name="ZoneTexte 20">
            <a:extLst>
              <a:ext uri="{FF2B5EF4-FFF2-40B4-BE49-F238E27FC236}">
                <a16:creationId xmlns:a16="http://schemas.microsoft.com/office/drawing/2014/main" id="{FE627A5C-7234-ACA9-8A72-0C14A8924959}"/>
              </a:ext>
            </a:extLst>
          </p:cNvPr>
          <p:cNvSpPr txBox="1"/>
          <p:nvPr/>
        </p:nvSpPr>
        <p:spPr>
          <a:xfrm>
            <a:off x="7518897" y="499468"/>
            <a:ext cx="2524858" cy="861774"/>
          </a:xfrm>
          <a:prstGeom prst="rect">
            <a:avLst/>
          </a:prstGeom>
          <a:noFill/>
        </p:spPr>
        <p:txBody>
          <a:bodyPr wrap="none" rtlCol="0">
            <a:spAutoFit/>
          </a:bodyPr>
          <a:lstStyle/>
          <a:p>
            <a:r>
              <a:rPr lang="fr-FR" sz="1600" b="1" dirty="0"/>
              <a:t>La proportion des ventes </a:t>
            </a:r>
            <a:br>
              <a:rPr lang="fr-FR" sz="1600" b="1" dirty="0"/>
            </a:br>
            <a:r>
              <a:rPr lang="fr-FR" sz="1600" b="1" dirty="0"/>
              <a:t>par catégorie de produit </a:t>
            </a:r>
          </a:p>
          <a:p>
            <a:endParaRPr lang="fr-FR" dirty="0"/>
          </a:p>
        </p:txBody>
      </p:sp>
    </p:spTree>
    <p:extLst>
      <p:ext uri="{BB962C8B-B14F-4D97-AF65-F5344CB8AC3E}">
        <p14:creationId xmlns:p14="http://schemas.microsoft.com/office/powerpoint/2010/main" val="59616954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apture d’écran, diagramme, Tracé&#10;&#10;Le contenu généré par l’IA peut être incorrect.">
            <a:extLst>
              <a:ext uri="{FF2B5EF4-FFF2-40B4-BE49-F238E27FC236}">
                <a16:creationId xmlns:a16="http://schemas.microsoft.com/office/drawing/2014/main" id="{4F090D45-0B9F-E6A0-F679-38B271037125}"/>
              </a:ext>
            </a:extLst>
          </p:cNvPr>
          <p:cNvPicPr>
            <a:picLocks noGrp="1" noChangeAspect="1"/>
          </p:cNvPicPr>
          <p:nvPr>
            <p:ph idx="1"/>
          </p:nvPr>
        </p:nvPicPr>
        <p:blipFill>
          <a:blip r:embed="rId3"/>
          <a:stretch>
            <a:fillRect/>
          </a:stretch>
        </p:blipFill>
        <p:spPr>
          <a:xfrm>
            <a:off x="4420212" y="0"/>
            <a:ext cx="7771788" cy="6044724"/>
          </a:xfrm>
        </p:spPr>
      </p:pic>
      <p:sp>
        <p:nvSpPr>
          <p:cNvPr id="2" name="Titre 1">
            <a:extLst>
              <a:ext uri="{FF2B5EF4-FFF2-40B4-BE49-F238E27FC236}">
                <a16:creationId xmlns:a16="http://schemas.microsoft.com/office/drawing/2014/main" id="{F4861E8D-F34B-F988-76A6-2ED97A2C4D86}"/>
              </a:ext>
            </a:extLst>
          </p:cNvPr>
          <p:cNvSpPr>
            <a:spLocks noGrp="1"/>
          </p:cNvSpPr>
          <p:nvPr>
            <p:ph type="title"/>
          </p:nvPr>
        </p:nvSpPr>
        <p:spPr/>
        <p:txBody>
          <a:bodyPr anchor="ctr">
            <a:noAutofit/>
          </a:bodyPr>
          <a:lstStyle/>
          <a:p>
            <a:pPr algn="ctr"/>
            <a:r>
              <a:rPr lang="fr-FR" sz="2400" b="1" dirty="0"/>
              <a:t>Changement de dimension : </a:t>
            </a:r>
            <a:br>
              <a:rPr lang="fr-FR" sz="2400" b="1" dirty="0"/>
            </a:br>
            <a:r>
              <a:rPr lang="fr-FR" sz="2400" b="1" dirty="0"/>
              <a:t>une visibilité multipliée par 30</a:t>
            </a:r>
            <a:endParaRPr lang="fr-FR" sz="2400" dirty="0"/>
          </a:p>
        </p:txBody>
      </p:sp>
      <p:pic>
        <p:nvPicPr>
          <p:cNvPr id="6" name="Image 5">
            <a:extLst>
              <a:ext uri="{FF2B5EF4-FFF2-40B4-BE49-F238E27FC236}">
                <a16:creationId xmlns:a16="http://schemas.microsoft.com/office/drawing/2014/main" id="{A5D7B5E5-CCE4-6271-466C-D7B487EE3E1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
        <p:nvSpPr>
          <p:cNvPr id="11" name="Flèche : droite 7">
            <a:extLst>
              <a:ext uri="{FF2B5EF4-FFF2-40B4-BE49-F238E27FC236}">
                <a16:creationId xmlns:a16="http://schemas.microsoft.com/office/drawing/2014/main" id="{778EAC57-77CF-E832-1B1C-62A865EAC4D5}"/>
              </a:ext>
            </a:extLst>
          </p:cNvPr>
          <p:cNvSpPr/>
          <p:nvPr/>
        </p:nvSpPr>
        <p:spPr>
          <a:xfrm rot="16200000">
            <a:off x="9642526" y="2762200"/>
            <a:ext cx="3811588" cy="214779"/>
          </a:xfrm>
          <a:prstGeom prst="rightArrow">
            <a:avLst>
              <a:gd name="adj1" fmla="val 18821"/>
              <a:gd name="adj2" fmla="val 32928"/>
            </a:avLst>
          </a:prstGeom>
          <a:solidFill>
            <a:srgbClr val="00B050"/>
          </a:solidFill>
          <a:ln>
            <a:solidFill>
              <a:srgbClr val="00B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12" name="Flèche : droite 6">
            <a:extLst>
              <a:ext uri="{FF2B5EF4-FFF2-40B4-BE49-F238E27FC236}">
                <a16:creationId xmlns:a16="http://schemas.microsoft.com/office/drawing/2014/main" id="{2B48E560-DD96-7C75-C1D8-51242E78F114}"/>
              </a:ext>
            </a:extLst>
          </p:cNvPr>
          <p:cNvSpPr/>
          <p:nvPr/>
        </p:nvSpPr>
        <p:spPr>
          <a:xfrm rot="16200000">
            <a:off x="11377372" y="4914062"/>
            <a:ext cx="322780" cy="233897"/>
          </a:xfrm>
          <a:prstGeom prst="rightArrow">
            <a:avLst>
              <a:gd name="adj1" fmla="val 18821"/>
              <a:gd name="adj2" fmla="val 32928"/>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2" name="Groupe 31">
            <a:extLst>
              <a:ext uri="{FF2B5EF4-FFF2-40B4-BE49-F238E27FC236}">
                <a16:creationId xmlns:a16="http://schemas.microsoft.com/office/drawing/2014/main" id="{C9A9EC8C-3E8A-E56C-6E65-6537A3CEF158}"/>
              </a:ext>
            </a:extLst>
          </p:cNvPr>
          <p:cNvGrpSpPr/>
          <p:nvPr/>
        </p:nvGrpSpPr>
        <p:grpSpPr>
          <a:xfrm>
            <a:off x="839788" y="2285795"/>
            <a:ext cx="4154858" cy="2745215"/>
            <a:chOff x="1154428" y="2353334"/>
            <a:chExt cx="4154858" cy="2745215"/>
          </a:xfrm>
        </p:grpSpPr>
        <p:sp>
          <p:nvSpPr>
            <p:cNvPr id="14" name="ZoneTexte 13">
              <a:extLst>
                <a:ext uri="{FF2B5EF4-FFF2-40B4-BE49-F238E27FC236}">
                  <a16:creationId xmlns:a16="http://schemas.microsoft.com/office/drawing/2014/main" id="{21A71E0B-CC44-24CE-04B0-73A928CE63DF}"/>
                </a:ext>
              </a:extLst>
            </p:cNvPr>
            <p:cNvSpPr txBox="1"/>
            <p:nvPr/>
          </p:nvSpPr>
          <p:spPr>
            <a:xfrm>
              <a:off x="1388326" y="2884592"/>
              <a:ext cx="3086551" cy="369332"/>
            </a:xfrm>
            <a:prstGeom prst="rect">
              <a:avLst/>
            </a:prstGeom>
            <a:noFill/>
          </p:spPr>
          <p:txBody>
            <a:bodyPr wrap="none" rtlCol="0">
              <a:spAutoFit/>
            </a:bodyPr>
            <a:lstStyle/>
            <a:p>
              <a:r>
                <a:rPr lang="fr-FR" b="1" dirty="0"/>
                <a:t>Nombre de vente en hausse</a:t>
              </a:r>
            </a:p>
          </p:txBody>
        </p:sp>
        <p:sp>
          <p:nvSpPr>
            <p:cNvPr id="17" name="Flèche : droite 6">
              <a:extLst>
                <a:ext uri="{FF2B5EF4-FFF2-40B4-BE49-F238E27FC236}">
                  <a16:creationId xmlns:a16="http://schemas.microsoft.com/office/drawing/2014/main" id="{5D2DAD18-DDFE-392D-2A26-5DD305B59A02}"/>
                </a:ext>
              </a:extLst>
            </p:cNvPr>
            <p:cNvSpPr/>
            <p:nvPr/>
          </p:nvSpPr>
          <p:spPr>
            <a:xfrm rot="16200000">
              <a:off x="1109987" y="2929034"/>
              <a:ext cx="322780" cy="233897"/>
            </a:xfrm>
            <a:prstGeom prst="rightArrow">
              <a:avLst>
                <a:gd name="adj1" fmla="val 18821"/>
                <a:gd name="adj2" fmla="val 32928"/>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Flèche : droite 7">
              <a:extLst>
                <a:ext uri="{FF2B5EF4-FFF2-40B4-BE49-F238E27FC236}">
                  <a16:creationId xmlns:a16="http://schemas.microsoft.com/office/drawing/2014/main" id="{1446AA5A-2DEF-F118-C956-E90ECFB9C7AC}"/>
                </a:ext>
              </a:extLst>
            </p:cNvPr>
            <p:cNvSpPr/>
            <p:nvPr/>
          </p:nvSpPr>
          <p:spPr>
            <a:xfrm rot="16200000">
              <a:off x="1086711" y="2421051"/>
              <a:ext cx="369332" cy="233898"/>
            </a:xfrm>
            <a:prstGeom prst="rightArrow">
              <a:avLst>
                <a:gd name="adj1" fmla="val 18821"/>
                <a:gd name="adj2" fmla="val 32928"/>
              </a:avLst>
            </a:prstGeom>
            <a:solidFill>
              <a:srgbClr val="00B050"/>
            </a:solidFill>
            <a:ln>
              <a:solidFill>
                <a:srgbClr val="00B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55299DF9-7200-E52D-7BDC-D6581BF65D88}"/>
                </a:ext>
              </a:extLst>
            </p:cNvPr>
            <p:cNvSpPr txBox="1"/>
            <p:nvPr/>
          </p:nvSpPr>
          <p:spPr>
            <a:xfrm>
              <a:off x="1388326" y="2353334"/>
              <a:ext cx="2364237" cy="369332"/>
            </a:xfrm>
            <a:prstGeom prst="rect">
              <a:avLst/>
            </a:prstGeom>
            <a:noFill/>
          </p:spPr>
          <p:txBody>
            <a:bodyPr wrap="none" rtlCol="0">
              <a:spAutoFit/>
            </a:bodyPr>
            <a:lstStyle/>
            <a:p>
              <a:r>
                <a:rPr lang="fr-FR" b="1" dirty="0"/>
                <a:t>Nombre de visite x30</a:t>
              </a:r>
            </a:p>
          </p:txBody>
        </p:sp>
        <p:sp>
          <p:nvSpPr>
            <p:cNvPr id="24" name="ZoneTexte 23">
              <a:extLst>
                <a:ext uri="{FF2B5EF4-FFF2-40B4-BE49-F238E27FC236}">
                  <a16:creationId xmlns:a16="http://schemas.microsoft.com/office/drawing/2014/main" id="{C6E6744B-76EF-7AF7-41F7-EAFADE06E569}"/>
                </a:ext>
              </a:extLst>
            </p:cNvPr>
            <p:cNvSpPr txBox="1"/>
            <p:nvPr/>
          </p:nvSpPr>
          <p:spPr>
            <a:xfrm>
              <a:off x="1382762" y="3369299"/>
              <a:ext cx="3926524" cy="646331"/>
            </a:xfrm>
            <a:prstGeom prst="rect">
              <a:avLst/>
            </a:prstGeom>
            <a:noFill/>
          </p:spPr>
          <p:txBody>
            <a:bodyPr wrap="none" rtlCol="0">
              <a:spAutoFit/>
            </a:bodyPr>
            <a:lstStyle/>
            <a:p>
              <a:r>
                <a:rPr lang="fr-FR" dirty="0"/>
                <a:t>On est passé d’environ 20 000 </a:t>
              </a:r>
              <a:br>
                <a:rPr lang="fr-FR" dirty="0"/>
              </a:br>
              <a:r>
                <a:rPr lang="fr-FR" dirty="0"/>
                <a:t>à plus de </a:t>
              </a:r>
              <a:r>
                <a:rPr lang="fr-FR" b="1" dirty="0"/>
                <a:t>550 000 visites mensuelles</a:t>
              </a:r>
              <a:endParaRPr lang="fr-FR" dirty="0"/>
            </a:p>
          </p:txBody>
        </p:sp>
        <p:sp>
          <p:nvSpPr>
            <p:cNvPr id="25" name="ZoneTexte 24">
              <a:extLst>
                <a:ext uri="{FF2B5EF4-FFF2-40B4-BE49-F238E27FC236}">
                  <a16:creationId xmlns:a16="http://schemas.microsoft.com/office/drawing/2014/main" id="{98A63809-A473-B8A9-9B6C-2E738DAAC8B5}"/>
                </a:ext>
              </a:extLst>
            </p:cNvPr>
            <p:cNvSpPr txBox="1"/>
            <p:nvPr/>
          </p:nvSpPr>
          <p:spPr>
            <a:xfrm>
              <a:off x="1382762" y="4175219"/>
              <a:ext cx="3787962" cy="923330"/>
            </a:xfrm>
            <a:prstGeom prst="rect">
              <a:avLst/>
            </a:prstGeom>
            <a:noFill/>
          </p:spPr>
          <p:txBody>
            <a:bodyPr wrap="square" rtlCol="0">
              <a:spAutoFit/>
            </a:bodyPr>
            <a:lstStyle/>
            <a:p>
              <a:r>
                <a:rPr lang="fr-FR" dirty="0"/>
                <a:t>LGM est devenu </a:t>
              </a:r>
              <a:r>
                <a:rPr lang="fr-FR" b="1" dirty="0"/>
                <a:t>une destination incontournable </a:t>
              </a:r>
              <a:r>
                <a:rPr lang="fr-FR" dirty="0"/>
                <a:t>pour les courses du quotidien. </a:t>
              </a:r>
            </a:p>
          </p:txBody>
        </p:sp>
      </p:grpSp>
      <p:sp>
        <p:nvSpPr>
          <p:cNvPr id="27" name="Titre 1">
            <a:extLst>
              <a:ext uri="{FF2B5EF4-FFF2-40B4-BE49-F238E27FC236}">
                <a16:creationId xmlns:a16="http://schemas.microsoft.com/office/drawing/2014/main" id="{994980EF-55DB-8914-580D-745E35945E7E}"/>
              </a:ext>
            </a:extLst>
          </p:cNvPr>
          <p:cNvSpPr txBox="1">
            <a:spLocks/>
          </p:cNvSpPr>
          <p:nvPr/>
        </p:nvSpPr>
        <p:spPr>
          <a:xfrm>
            <a:off x="2438706" y="295274"/>
            <a:ext cx="11734800" cy="223074"/>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600" b="1" dirty="0">
                <a:solidFill>
                  <a:schemeClr val="tx1">
                    <a:lumMod val="75000"/>
                    <a:lumOff val="25000"/>
                  </a:schemeClr>
                </a:solidFill>
              </a:rPr>
              <a:t>Nombre de ventes / Visites sur le site</a:t>
            </a:r>
            <a:endParaRPr lang="fr-FR" sz="1600" dirty="0">
              <a:solidFill>
                <a:schemeClr val="tx1">
                  <a:lumMod val="75000"/>
                  <a:lumOff val="25000"/>
                </a:schemeClr>
              </a:solidFill>
            </a:endParaRPr>
          </a:p>
        </p:txBody>
      </p:sp>
    </p:spTree>
    <p:extLst>
      <p:ext uri="{BB962C8B-B14F-4D97-AF65-F5344CB8AC3E}">
        <p14:creationId xmlns:p14="http://schemas.microsoft.com/office/powerpoint/2010/main" val="318622850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09B32-78F1-2E23-440F-D6C68495E5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791367D-F2DE-8C12-ABB2-B517BA3B0804}"/>
              </a:ext>
            </a:extLst>
          </p:cNvPr>
          <p:cNvSpPr>
            <a:spLocks noGrp="1"/>
          </p:cNvSpPr>
          <p:nvPr>
            <p:ph type="title"/>
          </p:nvPr>
        </p:nvSpPr>
        <p:spPr/>
        <p:txBody>
          <a:bodyPr anchor="ctr">
            <a:noAutofit/>
          </a:bodyPr>
          <a:lstStyle/>
          <a:p>
            <a:pPr algn="ctr"/>
            <a:r>
              <a:rPr lang="fr-FR" sz="2400" b="1" dirty="0"/>
              <a:t>Efficacité : une performance au-dessus des standards du marché</a:t>
            </a:r>
          </a:p>
        </p:txBody>
      </p:sp>
      <p:pic>
        <p:nvPicPr>
          <p:cNvPr id="9" name="Espace réservé du contenu 8" descr="Une image contenant ligne, Tracé, diagramme, capture d’écran&#10;&#10;Le contenu généré par l’IA peut être incorrect.">
            <a:extLst>
              <a:ext uri="{FF2B5EF4-FFF2-40B4-BE49-F238E27FC236}">
                <a16:creationId xmlns:a16="http://schemas.microsoft.com/office/drawing/2014/main" id="{B1DCECE3-9F8B-1562-ABD9-61F3881983CF}"/>
              </a:ext>
            </a:extLst>
          </p:cNvPr>
          <p:cNvPicPr>
            <a:picLocks noGrp="1" noChangeAspect="1"/>
          </p:cNvPicPr>
          <p:nvPr>
            <p:ph idx="1"/>
          </p:nvPr>
        </p:nvPicPr>
        <p:blipFill>
          <a:blip r:embed="rId3"/>
          <a:stretch>
            <a:fillRect/>
          </a:stretch>
        </p:blipFill>
        <p:spPr>
          <a:xfrm>
            <a:off x="5056992" y="315451"/>
            <a:ext cx="7135008" cy="5553537"/>
          </a:xfrm>
        </p:spPr>
      </p:pic>
      <p:pic>
        <p:nvPicPr>
          <p:cNvPr id="10" name="Image 9">
            <a:extLst>
              <a:ext uri="{FF2B5EF4-FFF2-40B4-BE49-F238E27FC236}">
                <a16:creationId xmlns:a16="http://schemas.microsoft.com/office/drawing/2014/main" id="{73632E36-E3CB-071B-9DE6-4B6C05A0D40E}"/>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
        <p:nvSpPr>
          <p:cNvPr id="14" name="Bouée 13">
            <a:extLst>
              <a:ext uri="{FF2B5EF4-FFF2-40B4-BE49-F238E27FC236}">
                <a16:creationId xmlns:a16="http://schemas.microsoft.com/office/drawing/2014/main" id="{F8EDCC91-51AD-A67C-C1CE-967F94D43546}"/>
              </a:ext>
            </a:extLst>
          </p:cNvPr>
          <p:cNvSpPr/>
          <p:nvPr/>
        </p:nvSpPr>
        <p:spPr>
          <a:xfrm>
            <a:off x="10958672" y="4780344"/>
            <a:ext cx="451413" cy="428264"/>
          </a:xfrm>
          <a:prstGeom prst="donut">
            <a:avLst>
              <a:gd name="adj" fmla="val 1069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5" name="Bouée 14">
            <a:extLst>
              <a:ext uri="{FF2B5EF4-FFF2-40B4-BE49-F238E27FC236}">
                <a16:creationId xmlns:a16="http://schemas.microsoft.com/office/drawing/2014/main" id="{8DB2D9E7-691E-D911-C5BF-76F2A23D9213}"/>
              </a:ext>
            </a:extLst>
          </p:cNvPr>
          <p:cNvSpPr/>
          <p:nvPr/>
        </p:nvSpPr>
        <p:spPr>
          <a:xfrm>
            <a:off x="6437452" y="962005"/>
            <a:ext cx="451413" cy="428264"/>
          </a:xfrm>
          <a:prstGeom prst="donut">
            <a:avLst>
              <a:gd name="adj" fmla="val 1069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7" name="Flèche vers le bas 16">
            <a:extLst>
              <a:ext uri="{FF2B5EF4-FFF2-40B4-BE49-F238E27FC236}">
                <a16:creationId xmlns:a16="http://schemas.microsoft.com/office/drawing/2014/main" id="{45DAE104-FD4C-B866-1812-1D61D3573F89}"/>
              </a:ext>
            </a:extLst>
          </p:cNvPr>
          <p:cNvSpPr/>
          <p:nvPr/>
        </p:nvSpPr>
        <p:spPr>
          <a:xfrm>
            <a:off x="2703644" y="2638696"/>
            <a:ext cx="204522" cy="315005"/>
          </a:xfrm>
          <a:prstGeom prst="down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ZoneTexte 17">
            <a:extLst>
              <a:ext uri="{FF2B5EF4-FFF2-40B4-BE49-F238E27FC236}">
                <a16:creationId xmlns:a16="http://schemas.microsoft.com/office/drawing/2014/main" id="{5C06F3ED-8EB6-412E-B63C-D3B7F413B060}"/>
              </a:ext>
            </a:extLst>
          </p:cNvPr>
          <p:cNvSpPr txBox="1"/>
          <p:nvPr/>
        </p:nvSpPr>
        <p:spPr>
          <a:xfrm>
            <a:off x="2370727" y="2849725"/>
            <a:ext cx="1388018" cy="584775"/>
          </a:xfrm>
          <a:prstGeom prst="rect">
            <a:avLst/>
          </a:prstGeom>
          <a:noFill/>
        </p:spPr>
        <p:txBody>
          <a:bodyPr wrap="square" rtlCol="0">
            <a:spAutoFit/>
          </a:bodyPr>
          <a:lstStyle/>
          <a:p>
            <a:r>
              <a:rPr lang="fr-FR" sz="3200" b="1" dirty="0">
                <a:solidFill>
                  <a:srgbClr val="BC1100"/>
                </a:solidFill>
              </a:rPr>
              <a:t>-50%</a:t>
            </a:r>
          </a:p>
        </p:txBody>
      </p:sp>
      <p:sp>
        <p:nvSpPr>
          <p:cNvPr id="19" name="Égal 18">
            <a:extLst>
              <a:ext uri="{FF2B5EF4-FFF2-40B4-BE49-F238E27FC236}">
                <a16:creationId xmlns:a16="http://schemas.microsoft.com/office/drawing/2014/main" id="{24E87A32-ADE2-F77B-ED20-4F3C3D0D7228}"/>
              </a:ext>
            </a:extLst>
          </p:cNvPr>
          <p:cNvSpPr/>
          <p:nvPr/>
        </p:nvSpPr>
        <p:spPr>
          <a:xfrm>
            <a:off x="2547074" y="5111277"/>
            <a:ext cx="517662" cy="369234"/>
          </a:xfrm>
          <a:prstGeom prst="mathEqual">
            <a:avLst>
              <a:gd name="adj1" fmla="val 23520"/>
              <a:gd name="adj2" fmla="val 54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id="{00409164-9F1B-F48B-2A22-364A181020CB}"/>
              </a:ext>
            </a:extLst>
          </p:cNvPr>
          <p:cNvSpPr txBox="1"/>
          <p:nvPr/>
        </p:nvSpPr>
        <p:spPr>
          <a:xfrm>
            <a:off x="488465" y="3619117"/>
            <a:ext cx="4839402" cy="584775"/>
          </a:xfrm>
          <a:prstGeom prst="rect">
            <a:avLst/>
          </a:prstGeom>
          <a:noFill/>
        </p:spPr>
        <p:txBody>
          <a:bodyPr wrap="none" rtlCol="0">
            <a:spAutoFit/>
          </a:bodyPr>
          <a:lstStyle/>
          <a:p>
            <a:pPr algn="ctr"/>
            <a:r>
              <a:rPr lang="fr-FR" sz="1600" b="1" dirty="0"/>
              <a:t>notre explosion de trafic : </a:t>
            </a:r>
            <a:br>
              <a:rPr lang="fr-FR" sz="1600" b="1" dirty="0"/>
            </a:br>
            <a:r>
              <a:rPr lang="fr-FR" sz="1600" b="1" dirty="0"/>
              <a:t>nos visites ont augmenté plus vite que nos ventes.</a:t>
            </a:r>
          </a:p>
        </p:txBody>
      </p:sp>
      <p:sp>
        <p:nvSpPr>
          <p:cNvPr id="21" name="ZoneTexte 20">
            <a:extLst>
              <a:ext uri="{FF2B5EF4-FFF2-40B4-BE49-F238E27FC236}">
                <a16:creationId xmlns:a16="http://schemas.microsoft.com/office/drawing/2014/main" id="{B5FBDE21-7F30-DB79-82FD-2CFEF1B7C087}"/>
              </a:ext>
            </a:extLst>
          </p:cNvPr>
          <p:cNvSpPr txBox="1"/>
          <p:nvPr/>
        </p:nvSpPr>
        <p:spPr>
          <a:xfrm>
            <a:off x="2264635" y="3346298"/>
            <a:ext cx="1082540" cy="369332"/>
          </a:xfrm>
          <a:prstGeom prst="rect">
            <a:avLst/>
          </a:prstGeom>
          <a:noFill/>
        </p:spPr>
        <p:txBody>
          <a:bodyPr wrap="none" rtlCol="0">
            <a:spAutoFit/>
          </a:bodyPr>
          <a:lstStyle/>
          <a:p>
            <a:r>
              <a:rPr lang="fr-FR" b="1" dirty="0">
                <a:highlight>
                  <a:srgbClr val="FFFF00"/>
                </a:highlight>
              </a:rPr>
              <a:t>CAUSE ?</a:t>
            </a:r>
          </a:p>
        </p:txBody>
      </p:sp>
      <p:sp>
        <p:nvSpPr>
          <p:cNvPr id="22" name="Flèche vers le bas 21">
            <a:extLst>
              <a:ext uri="{FF2B5EF4-FFF2-40B4-BE49-F238E27FC236}">
                <a16:creationId xmlns:a16="http://schemas.microsoft.com/office/drawing/2014/main" id="{B017902B-A747-567F-4E20-3FB2467805D5}"/>
              </a:ext>
            </a:extLst>
          </p:cNvPr>
          <p:cNvSpPr/>
          <p:nvPr/>
        </p:nvSpPr>
        <p:spPr>
          <a:xfrm>
            <a:off x="2708476" y="4200413"/>
            <a:ext cx="204522" cy="315005"/>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ZoneTexte 22">
            <a:extLst>
              <a:ext uri="{FF2B5EF4-FFF2-40B4-BE49-F238E27FC236}">
                <a16:creationId xmlns:a16="http://schemas.microsoft.com/office/drawing/2014/main" id="{F1272461-2EC7-DBDA-03BB-FE5A5694A9C8}"/>
              </a:ext>
            </a:extLst>
          </p:cNvPr>
          <p:cNvSpPr txBox="1"/>
          <p:nvPr/>
        </p:nvSpPr>
        <p:spPr>
          <a:xfrm>
            <a:off x="488465" y="4451664"/>
            <a:ext cx="4906215" cy="584775"/>
          </a:xfrm>
          <a:prstGeom prst="rect">
            <a:avLst/>
          </a:prstGeom>
          <a:noFill/>
        </p:spPr>
        <p:txBody>
          <a:bodyPr wrap="none" rtlCol="0">
            <a:spAutoFit/>
          </a:bodyPr>
          <a:lstStyle/>
          <a:p>
            <a:pPr algn="ctr"/>
            <a:r>
              <a:rPr lang="fr-FR" sz="1600" b="1" dirty="0"/>
              <a:t>5 % reste très bon: </a:t>
            </a:r>
            <a:br>
              <a:rPr lang="fr-FR" sz="1600" b="1" dirty="0"/>
            </a:br>
            <a:r>
              <a:rPr lang="fr-FR" sz="1600" b="1" dirty="0"/>
              <a:t>la moyenne du e-commerce se situe autour de 3 %.</a:t>
            </a:r>
          </a:p>
        </p:txBody>
      </p:sp>
      <p:sp>
        <p:nvSpPr>
          <p:cNvPr id="24" name="ZoneTexte 23">
            <a:extLst>
              <a:ext uri="{FF2B5EF4-FFF2-40B4-BE49-F238E27FC236}">
                <a16:creationId xmlns:a16="http://schemas.microsoft.com/office/drawing/2014/main" id="{5384E976-B534-B3B7-DAF3-C3A24FE4CEA7}"/>
              </a:ext>
            </a:extLst>
          </p:cNvPr>
          <p:cNvSpPr txBox="1"/>
          <p:nvPr/>
        </p:nvSpPr>
        <p:spPr>
          <a:xfrm>
            <a:off x="945342" y="5480511"/>
            <a:ext cx="3516604" cy="584775"/>
          </a:xfrm>
          <a:prstGeom prst="rect">
            <a:avLst/>
          </a:prstGeom>
          <a:noFill/>
        </p:spPr>
        <p:txBody>
          <a:bodyPr wrap="none" rtlCol="0">
            <a:spAutoFit/>
          </a:bodyPr>
          <a:lstStyle/>
          <a:p>
            <a:pPr algn="ctr"/>
            <a:r>
              <a:rPr lang="fr-FR" sz="1600" b="1" dirty="0"/>
              <a:t>LGM convainc presque</a:t>
            </a:r>
            <a:br>
              <a:rPr lang="fr-FR" sz="1600" b="1" dirty="0"/>
            </a:br>
            <a:r>
              <a:rPr lang="fr-FR" sz="1600" b="1" dirty="0"/>
              <a:t> deux fois mieux que la concurrence</a:t>
            </a:r>
          </a:p>
        </p:txBody>
      </p:sp>
      <p:sp>
        <p:nvSpPr>
          <p:cNvPr id="27" name="ZoneTexte 26">
            <a:extLst>
              <a:ext uri="{FF2B5EF4-FFF2-40B4-BE49-F238E27FC236}">
                <a16:creationId xmlns:a16="http://schemas.microsoft.com/office/drawing/2014/main" id="{CE5C90C1-500F-A985-D388-35D2FF53669B}"/>
              </a:ext>
            </a:extLst>
          </p:cNvPr>
          <p:cNvSpPr txBox="1"/>
          <p:nvPr/>
        </p:nvSpPr>
        <p:spPr>
          <a:xfrm>
            <a:off x="704165" y="2269777"/>
            <a:ext cx="4408002" cy="646331"/>
          </a:xfrm>
          <a:prstGeom prst="rect">
            <a:avLst/>
          </a:prstGeom>
          <a:noFill/>
        </p:spPr>
        <p:txBody>
          <a:bodyPr wrap="none" rtlCol="0">
            <a:spAutoFit/>
          </a:bodyPr>
          <a:lstStyle/>
          <a:p>
            <a:r>
              <a:rPr lang="fr-FR" b="1" dirty="0"/>
              <a:t>Taux de conversion passer de 11 % à 5 % </a:t>
            </a:r>
          </a:p>
          <a:p>
            <a:endParaRPr lang="fr-FR" dirty="0"/>
          </a:p>
        </p:txBody>
      </p:sp>
      <p:sp>
        <p:nvSpPr>
          <p:cNvPr id="28" name="Titre 1">
            <a:extLst>
              <a:ext uri="{FF2B5EF4-FFF2-40B4-BE49-F238E27FC236}">
                <a16:creationId xmlns:a16="http://schemas.microsoft.com/office/drawing/2014/main" id="{86D10CF6-1AD5-4F14-8049-745C25AA59F2}"/>
              </a:ext>
            </a:extLst>
          </p:cNvPr>
          <p:cNvSpPr txBox="1">
            <a:spLocks/>
          </p:cNvSpPr>
          <p:nvPr/>
        </p:nvSpPr>
        <p:spPr>
          <a:xfrm>
            <a:off x="5667807" y="702149"/>
            <a:ext cx="5913378" cy="223074"/>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600" b="1" dirty="0"/>
              <a:t>Évolution du taux de conversion</a:t>
            </a:r>
            <a:endParaRPr lang="fr-FR" sz="1600" b="1" dirty="0">
              <a:solidFill>
                <a:schemeClr val="tx1">
                  <a:lumMod val="75000"/>
                  <a:lumOff val="25000"/>
                </a:schemeClr>
              </a:solidFill>
            </a:endParaRPr>
          </a:p>
        </p:txBody>
      </p:sp>
    </p:spTree>
    <p:extLst>
      <p:ext uri="{BB962C8B-B14F-4D97-AF65-F5344CB8AC3E}">
        <p14:creationId xmlns:p14="http://schemas.microsoft.com/office/powerpoint/2010/main" val="344884908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69BA-0982-F5E3-6E6A-21B53B56B27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D27DCA-A0CD-BD0D-9800-2ED4E42E0B0F}"/>
              </a:ext>
            </a:extLst>
          </p:cNvPr>
          <p:cNvSpPr>
            <a:spLocks noGrp="1"/>
          </p:cNvSpPr>
          <p:nvPr>
            <p:ph type="title"/>
          </p:nvPr>
        </p:nvSpPr>
        <p:spPr>
          <a:xfrm>
            <a:off x="791678" y="242734"/>
            <a:ext cx="3932237" cy="1600200"/>
          </a:xfrm>
        </p:spPr>
        <p:txBody>
          <a:bodyPr anchor="t">
            <a:normAutofit/>
          </a:bodyPr>
          <a:lstStyle/>
          <a:p>
            <a:pPr algn="ctr"/>
            <a:r>
              <a:rPr lang="fr-FR" sz="2400" b="1" dirty="0"/>
              <a:t>Comportement d'achat : le temps est le moteur de notre panier.</a:t>
            </a:r>
          </a:p>
        </p:txBody>
      </p:sp>
      <p:pic>
        <p:nvPicPr>
          <p:cNvPr id="5" name="Espace réservé du contenu 4" descr="Une image contenant capture d’écran, visualisation&#10;&#10;Le contenu généré par l’IA peut être incorrect.">
            <a:extLst>
              <a:ext uri="{FF2B5EF4-FFF2-40B4-BE49-F238E27FC236}">
                <a16:creationId xmlns:a16="http://schemas.microsoft.com/office/drawing/2014/main" id="{2F19C76C-695C-52EF-199B-A37AB146D4E6}"/>
              </a:ext>
            </a:extLst>
          </p:cNvPr>
          <p:cNvPicPr>
            <a:picLocks noGrp="1" noChangeAspect="1"/>
          </p:cNvPicPr>
          <p:nvPr>
            <p:ph idx="1"/>
          </p:nvPr>
        </p:nvPicPr>
        <p:blipFill>
          <a:blip r:embed="rId3"/>
          <a:stretch>
            <a:fillRect/>
          </a:stretch>
        </p:blipFill>
        <p:spPr>
          <a:xfrm>
            <a:off x="4772025" y="836184"/>
            <a:ext cx="7419975" cy="5771092"/>
          </a:xfrm>
        </p:spPr>
      </p:pic>
      <p:pic>
        <p:nvPicPr>
          <p:cNvPr id="6" name="Image 5">
            <a:extLst>
              <a:ext uri="{FF2B5EF4-FFF2-40B4-BE49-F238E27FC236}">
                <a16:creationId xmlns:a16="http://schemas.microsoft.com/office/drawing/2014/main" id="{7CEAB12A-38E1-30E3-FC41-204DBFFCEA6F}"/>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
        <p:nvSpPr>
          <p:cNvPr id="9" name="Bouée 8">
            <a:extLst>
              <a:ext uri="{FF2B5EF4-FFF2-40B4-BE49-F238E27FC236}">
                <a16:creationId xmlns:a16="http://schemas.microsoft.com/office/drawing/2014/main" id="{646F92C8-299F-4B84-5E89-1876AD6A1420}"/>
              </a:ext>
            </a:extLst>
          </p:cNvPr>
          <p:cNvSpPr/>
          <p:nvPr/>
        </p:nvSpPr>
        <p:spPr>
          <a:xfrm>
            <a:off x="7475468" y="3364908"/>
            <a:ext cx="1496989" cy="1442963"/>
          </a:xfrm>
          <a:prstGeom prst="donut">
            <a:avLst>
              <a:gd name="adj" fmla="val 4860"/>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cxnSp>
        <p:nvCxnSpPr>
          <p:cNvPr id="17" name="Connecteur droit avec flèche 16">
            <a:extLst>
              <a:ext uri="{FF2B5EF4-FFF2-40B4-BE49-F238E27FC236}">
                <a16:creationId xmlns:a16="http://schemas.microsoft.com/office/drawing/2014/main" id="{E162F8E0-F764-3283-AC52-10A4F84407A3}"/>
              </a:ext>
            </a:extLst>
          </p:cNvPr>
          <p:cNvCxnSpPr>
            <a:cxnSpLocks/>
          </p:cNvCxnSpPr>
          <p:nvPr/>
        </p:nvCxnSpPr>
        <p:spPr>
          <a:xfrm flipV="1">
            <a:off x="5912988" y="2057400"/>
            <a:ext cx="4767628" cy="3678383"/>
          </a:xfrm>
          <a:prstGeom prst="straightConnector1">
            <a:avLst/>
          </a:prstGeom>
          <a:ln>
            <a:solidFill>
              <a:schemeClr val="accent3"/>
            </a:solidFill>
            <a:tailEnd type="triangle"/>
          </a:ln>
        </p:spPr>
        <p:style>
          <a:lnRef idx="2">
            <a:schemeClr val="dk1"/>
          </a:lnRef>
          <a:fillRef idx="0">
            <a:schemeClr val="dk1"/>
          </a:fillRef>
          <a:effectRef idx="1">
            <a:schemeClr val="dk1"/>
          </a:effectRef>
          <a:fontRef idx="minor">
            <a:schemeClr val="tx1"/>
          </a:fontRef>
        </p:style>
      </p:cxnSp>
      <p:sp>
        <p:nvSpPr>
          <p:cNvPr id="14" name="ZoneTexte 13">
            <a:extLst>
              <a:ext uri="{FF2B5EF4-FFF2-40B4-BE49-F238E27FC236}">
                <a16:creationId xmlns:a16="http://schemas.microsoft.com/office/drawing/2014/main" id="{AD8F0071-B029-5511-6C5B-F550943482BD}"/>
              </a:ext>
            </a:extLst>
          </p:cNvPr>
          <p:cNvSpPr txBox="1"/>
          <p:nvPr/>
        </p:nvSpPr>
        <p:spPr>
          <a:xfrm>
            <a:off x="7295757" y="475447"/>
            <a:ext cx="2690160" cy="369332"/>
          </a:xfrm>
          <a:prstGeom prst="rect">
            <a:avLst/>
          </a:prstGeom>
          <a:noFill/>
        </p:spPr>
        <p:txBody>
          <a:bodyPr wrap="square" rtlCol="0">
            <a:spAutoFit/>
          </a:bodyPr>
          <a:lstStyle/>
          <a:p>
            <a:r>
              <a:rPr lang="fr-FR" b="1" dirty="0"/>
              <a:t>Nos clients majoritaires</a:t>
            </a:r>
          </a:p>
        </p:txBody>
      </p:sp>
      <p:sp>
        <p:nvSpPr>
          <p:cNvPr id="19" name="Bouée 18">
            <a:extLst>
              <a:ext uri="{FF2B5EF4-FFF2-40B4-BE49-F238E27FC236}">
                <a16:creationId xmlns:a16="http://schemas.microsoft.com/office/drawing/2014/main" id="{01B2E3BD-F311-DBFC-033C-D2ABD7F0D431}"/>
              </a:ext>
            </a:extLst>
          </p:cNvPr>
          <p:cNvSpPr/>
          <p:nvPr/>
        </p:nvSpPr>
        <p:spPr>
          <a:xfrm>
            <a:off x="6624161" y="475447"/>
            <a:ext cx="539112" cy="476222"/>
          </a:xfrm>
          <a:prstGeom prst="donut">
            <a:avLst>
              <a:gd name="adj" fmla="val 486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cxnSp>
        <p:nvCxnSpPr>
          <p:cNvPr id="21" name="Connecteur droit avec flèche 20">
            <a:extLst>
              <a:ext uri="{FF2B5EF4-FFF2-40B4-BE49-F238E27FC236}">
                <a16:creationId xmlns:a16="http://schemas.microsoft.com/office/drawing/2014/main" id="{5E4054F6-0FB0-8F06-6D16-CEF1F9C45042}"/>
              </a:ext>
            </a:extLst>
          </p:cNvPr>
          <p:cNvCxnSpPr>
            <a:cxnSpLocks/>
          </p:cNvCxnSpPr>
          <p:nvPr/>
        </p:nvCxnSpPr>
        <p:spPr>
          <a:xfrm>
            <a:off x="6607687" y="1296468"/>
            <a:ext cx="539112" cy="0"/>
          </a:xfrm>
          <a:prstGeom prst="straightConnector1">
            <a:avLst/>
          </a:prstGeom>
          <a:ln>
            <a:solidFill>
              <a:schemeClr val="accent3"/>
            </a:solidFill>
            <a:tailEnd type="triangle"/>
          </a:ln>
        </p:spPr>
        <p:style>
          <a:lnRef idx="2">
            <a:schemeClr val="dk1"/>
          </a:lnRef>
          <a:fillRef idx="0">
            <a:schemeClr val="dk1"/>
          </a:fillRef>
          <a:effectRef idx="1">
            <a:schemeClr val="dk1"/>
          </a:effectRef>
          <a:fontRef idx="minor">
            <a:schemeClr val="tx1"/>
          </a:fontRef>
        </p:style>
      </p:cxnSp>
      <p:sp>
        <p:nvSpPr>
          <p:cNvPr id="25" name="ZoneTexte 24">
            <a:extLst>
              <a:ext uri="{FF2B5EF4-FFF2-40B4-BE49-F238E27FC236}">
                <a16:creationId xmlns:a16="http://schemas.microsoft.com/office/drawing/2014/main" id="{2B4A5345-38C2-6BB7-9FD8-032403A09FBF}"/>
              </a:ext>
            </a:extLst>
          </p:cNvPr>
          <p:cNvSpPr txBox="1"/>
          <p:nvPr/>
        </p:nvSpPr>
        <p:spPr>
          <a:xfrm>
            <a:off x="7245134" y="1111802"/>
            <a:ext cx="2690160" cy="369332"/>
          </a:xfrm>
          <a:prstGeom prst="rect">
            <a:avLst/>
          </a:prstGeom>
          <a:noFill/>
        </p:spPr>
        <p:txBody>
          <a:bodyPr wrap="square" rtlCol="0">
            <a:spAutoFit/>
          </a:bodyPr>
          <a:lstStyle/>
          <a:p>
            <a:r>
              <a:rPr lang="fr-FR" b="1" dirty="0"/>
              <a:t>Courbe de tendance</a:t>
            </a:r>
          </a:p>
        </p:txBody>
      </p:sp>
      <p:sp>
        <p:nvSpPr>
          <p:cNvPr id="33" name="Plus 32">
            <a:extLst>
              <a:ext uri="{FF2B5EF4-FFF2-40B4-BE49-F238E27FC236}">
                <a16:creationId xmlns:a16="http://schemas.microsoft.com/office/drawing/2014/main" id="{8415C07A-9162-F6D5-ABE8-D984F46AAC0F}"/>
              </a:ext>
            </a:extLst>
          </p:cNvPr>
          <p:cNvSpPr/>
          <p:nvPr/>
        </p:nvSpPr>
        <p:spPr>
          <a:xfrm>
            <a:off x="448527" y="1721887"/>
            <a:ext cx="257567" cy="25959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ZoneTexte 33">
            <a:extLst>
              <a:ext uri="{FF2B5EF4-FFF2-40B4-BE49-F238E27FC236}">
                <a16:creationId xmlns:a16="http://schemas.microsoft.com/office/drawing/2014/main" id="{534667FE-7860-8DF8-A2BE-9F8DB554BCFE}"/>
              </a:ext>
            </a:extLst>
          </p:cNvPr>
          <p:cNvSpPr txBox="1"/>
          <p:nvPr/>
        </p:nvSpPr>
        <p:spPr>
          <a:xfrm>
            <a:off x="862825" y="1592395"/>
            <a:ext cx="2387698" cy="518573"/>
          </a:xfrm>
          <a:prstGeom prst="rect">
            <a:avLst/>
          </a:prstGeom>
          <a:noFill/>
        </p:spPr>
        <p:txBody>
          <a:bodyPr wrap="none" rtlCol="0">
            <a:spAutoFit/>
          </a:bodyPr>
          <a:lstStyle/>
          <a:p>
            <a:pPr algn="ctr"/>
            <a:r>
              <a:rPr lang="fr-FR" sz="1600" b="1" dirty="0"/>
              <a:t>le client prend le temps de</a:t>
            </a:r>
            <a:br>
              <a:rPr lang="fr-FR" sz="1600" b="1" dirty="0"/>
            </a:br>
            <a:r>
              <a:rPr lang="fr-FR" sz="1600" b="1" dirty="0"/>
              <a:t> découvrir nos produits</a:t>
            </a:r>
          </a:p>
        </p:txBody>
      </p:sp>
      <p:sp>
        <p:nvSpPr>
          <p:cNvPr id="35" name="Plus 34">
            <a:extLst>
              <a:ext uri="{FF2B5EF4-FFF2-40B4-BE49-F238E27FC236}">
                <a16:creationId xmlns:a16="http://schemas.microsoft.com/office/drawing/2014/main" id="{46B98EDE-A704-E247-4D6C-0771C7400163}"/>
              </a:ext>
            </a:extLst>
          </p:cNvPr>
          <p:cNvSpPr/>
          <p:nvPr/>
        </p:nvSpPr>
        <p:spPr>
          <a:xfrm>
            <a:off x="3351935" y="1721887"/>
            <a:ext cx="257567" cy="25959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D0E9F2AA-ADAF-FFD7-E37C-D695540203D7}"/>
              </a:ext>
            </a:extLst>
          </p:cNvPr>
          <p:cNvSpPr txBox="1"/>
          <p:nvPr/>
        </p:nvSpPr>
        <p:spPr>
          <a:xfrm>
            <a:off x="3547620" y="1562807"/>
            <a:ext cx="1492786" cy="545867"/>
          </a:xfrm>
          <a:prstGeom prst="rect">
            <a:avLst/>
          </a:prstGeom>
          <a:noFill/>
        </p:spPr>
        <p:txBody>
          <a:bodyPr wrap="square" rtlCol="0">
            <a:spAutoFit/>
          </a:bodyPr>
          <a:lstStyle/>
          <a:p>
            <a:pPr algn="ctr"/>
            <a:r>
              <a:rPr lang="fr-FR" b="1" dirty="0"/>
              <a:t>son panier </a:t>
            </a:r>
            <a:r>
              <a:rPr lang="fr-FR" sz="1600" b="1" dirty="0"/>
              <a:t>s'alourdit</a:t>
            </a:r>
            <a:endParaRPr lang="fr-FR" b="1" dirty="0"/>
          </a:p>
        </p:txBody>
      </p:sp>
      <p:sp>
        <p:nvSpPr>
          <p:cNvPr id="40" name="ZoneTexte 39">
            <a:extLst>
              <a:ext uri="{FF2B5EF4-FFF2-40B4-BE49-F238E27FC236}">
                <a16:creationId xmlns:a16="http://schemas.microsoft.com/office/drawing/2014/main" id="{7EE7F45E-D0C1-F1D2-277B-50DEA20900C1}"/>
              </a:ext>
            </a:extLst>
          </p:cNvPr>
          <p:cNvSpPr txBox="1"/>
          <p:nvPr/>
        </p:nvSpPr>
        <p:spPr>
          <a:xfrm>
            <a:off x="920966" y="2294180"/>
            <a:ext cx="3693936" cy="300227"/>
          </a:xfrm>
          <a:prstGeom prst="rect">
            <a:avLst/>
          </a:prstGeom>
          <a:noFill/>
        </p:spPr>
        <p:txBody>
          <a:bodyPr wrap="none" rtlCol="0">
            <a:spAutoFit/>
          </a:bodyPr>
          <a:lstStyle/>
          <a:p>
            <a:r>
              <a:rPr lang="fr-FR" sz="1600" b="1" dirty="0"/>
              <a:t>Nos acheteurs ≈  6 et 8 minutes sur le site  </a:t>
            </a:r>
          </a:p>
        </p:txBody>
      </p:sp>
      <p:sp>
        <p:nvSpPr>
          <p:cNvPr id="41" name="Flèche vers le bas 40">
            <a:extLst>
              <a:ext uri="{FF2B5EF4-FFF2-40B4-BE49-F238E27FC236}">
                <a16:creationId xmlns:a16="http://schemas.microsoft.com/office/drawing/2014/main" id="{6AA3EFE2-7F14-2CCB-053C-D59814B002E7}"/>
              </a:ext>
            </a:extLst>
          </p:cNvPr>
          <p:cNvSpPr/>
          <p:nvPr/>
        </p:nvSpPr>
        <p:spPr>
          <a:xfrm>
            <a:off x="2544420" y="2594407"/>
            <a:ext cx="184170" cy="279344"/>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 name="ZoneTexte 41">
            <a:extLst>
              <a:ext uri="{FF2B5EF4-FFF2-40B4-BE49-F238E27FC236}">
                <a16:creationId xmlns:a16="http://schemas.microsoft.com/office/drawing/2014/main" id="{89B52C94-62C4-E0BD-F933-20B63D858D36}"/>
              </a:ext>
            </a:extLst>
          </p:cNvPr>
          <p:cNvSpPr txBox="1"/>
          <p:nvPr/>
        </p:nvSpPr>
        <p:spPr>
          <a:xfrm>
            <a:off x="1663451" y="2860714"/>
            <a:ext cx="1946107" cy="300227"/>
          </a:xfrm>
          <a:prstGeom prst="rect">
            <a:avLst/>
          </a:prstGeom>
          <a:noFill/>
        </p:spPr>
        <p:txBody>
          <a:bodyPr wrap="none" rtlCol="0">
            <a:spAutoFit/>
          </a:bodyPr>
          <a:lstStyle/>
          <a:p>
            <a:r>
              <a:rPr lang="fr-FR" sz="1600" b="1" dirty="0"/>
              <a:t>Commande pour 40 €</a:t>
            </a:r>
          </a:p>
        </p:txBody>
      </p:sp>
      <p:sp>
        <p:nvSpPr>
          <p:cNvPr id="43" name="ZoneTexte 42">
            <a:extLst>
              <a:ext uri="{FF2B5EF4-FFF2-40B4-BE49-F238E27FC236}">
                <a16:creationId xmlns:a16="http://schemas.microsoft.com/office/drawing/2014/main" id="{8D84ED05-3917-7444-4008-B7EFB19B661E}"/>
              </a:ext>
            </a:extLst>
          </p:cNvPr>
          <p:cNvSpPr txBox="1"/>
          <p:nvPr/>
        </p:nvSpPr>
        <p:spPr>
          <a:xfrm>
            <a:off x="946761" y="3279180"/>
            <a:ext cx="3379486" cy="327520"/>
          </a:xfrm>
          <a:prstGeom prst="rect">
            <a:avLst/>
          </a:prstGeom>
          <a:noFill/>
        </p:spPr>
        <p:txBody>
          <a:bodyPr wrap="none" rtlCol="0">
            <a:spAutoFit/>
          </a:bodyPr>
          <a:lstStyle/>
          <a:p>
            <a:r>
              <a:rPr lang="fr-FR" b="1" dirty="0"/>
              <a:t>La grande majorité de nos revenus</a:t>
            </a:r>
          </a:p>
        </p:txBody>
      </p:sp>
      <p:sp>
        <p:nvSpPr>
          <p:cNvPr id="46" name="ZoneTexte 45">
            <a:extLst>
              <a:ext uri="{FF2B5EF4-FFF2-40B4-BE49-F238E27FC236}">
                <a16:creationId xmlns:a16="http://schemas.microsoft.com/office/drawing/2014/main" id="{EE5BA19E-DA8A-38E2-EDEA-0F121A6D8B28}"/>
              </a:ext>
            </a:extLst>
          </p:cNvPr>
          <p:cNvSpPr txBox="1"/>
          <p:nvPr/>
        </p:nvSpPr>
        <p:spPr>
          <a:xfrm>
            <a:off x="1191084" y="3990176"/>
            <a:ext cx="2891416" cy="518573"/>
          </a:xfrm>
          <a:prstGeom prst="rect">
            <a:avLst/>
          </a:prstGeom>
          <a:noFill/>
        </p:spPr>
        <p:txBody>
          <a:bodyPr wrap="none" rtlCol="0">
            <a:spAutoFit/>
          </a:bodyPr>
          <a:lstStyle/>
          <a:p>
            <a:pPr algn="ctr"/>
            <a:r>
              <a:rPr lang="fr-FR" sz="1600" b="1" dirty="0"/>
              <a:t>Concentre sur des paniers entre </a:t>
            </a:r>
            <a:br>
              <a:rPr lang="fr-FR" sz="1600" b="1" dirty="0"/>
            </a:br>
            <a:r>
              <a:rPr lang="fr-FR" sz="1600" b="1" dirty="0"/>
              <a:t>30 € et 50 €</a:t>
            </a:r>
          </a:p>
        </p:txBody>
      </p:sp>
      <p:sp>
        <p:nvSpPr>
          <p:cNvPr id="48" name="Égal 47">
            <a:extLst>
              <a:ext uri="{FF2B5EF4-FFF2-40B4-BE49-F238E27FC236}">
                <a16:creationId xmlns:a16="http://schemas.microsoft.com/office/drawing/2014/main" id="{46D9B205-35DD-D203-343F-9A1909182DB2}"/>
              </a:ext>
            </a:extLst>
          </p:cNvPr>
          <p:cNvSpPr/>
          <p:nvPr/>
        </p:nvSpPr>
        <p:spPr>
          <a:xfrm>
            <a:off x="2402930" y="3663577"/>
            <a:ext cx="466148" cy="327433"/>
          </a:xfrm>
          <a:prstGeom prst="mathEqual">
            <a:avLst>
              <a:gd name="adj1" fmla="val 23520"/>
              <a:gd name="adj2" fmla="val 54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1" name="Flèche vers le bas 50">
            <a:extLst>
              <a:ext uri="{FF2B5EF4-FFF2-40B4-BE49-F238E27FC236}">
                <a16:creationId xmlns:a16="http://schemas.microsoft.com/office/drawing/2014/main" id="{EE9BBBE8-2799-C5B5-0AD3-0F0632127FED}"/>
              </a:ext>
            </a:extLst>
          </p:cNvPr>
          <p:cNvSpPr/>
          <p:nvPr/>
        </p:nvSpPr>
        <p:spPr>
          <a:xfrm>
            <a:off x="2544420" y="4735723"/>
            <a:ext cx="184170" cy="52988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4" name="Égal 53">
            <a:extLst>
              <a:ext uri="{FF2B5EF4-FFF2-40B4-BE49-F238E27FC236}">
                <a16:creationId xmlns:a16="http://schemas.microsoft.com/office/drawing/2014/main" id="{B1A7AB57-B90D-7EB1-5852-327BB7504172}"/>
              </a:ext>
            </a:extLst>
          </p:cNvPr>
          <p:cNvSpPr/>
          <p:nvPr/>
        </p:nvSpPr>
        <p:spPr>
          <a:xfrm>
            <a:off x="2251183" y="5465243"/>
            <a:ext cx="466148" cy="327433"/>
          </a:xfrm>
          <a:prstGeom prst="mathEqual">
            <a:avLst>
              <a:gd name="adj1" fmla="val 23520"/>
              <a:gd name="adj2" fmla="val 54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0" name="Cadre 49">
            <a:extLst>
              <a:ext uri="{FF2B5EF4-FFF2-40B4-BE49-F238E27FC236}">
                <a16:creationId xmlns:a16="http://schemas.microsoft.com/office/drawing/2014/main" id="{7BF221CE-71B2-86E4-13C8-6D4516F93BCD}"/>
              </a:ext>
            </a:extLst>
          </p:cNvPr>
          <p:cNvSpPr/>
          <p:nvPr/>
        </p:nvSpPr>
        <p:spPr>
          <a:xfrm>
            <a:off x="149672" y="1511914"/>
            <a:ext cx="5045357" cy="3172133"/>
          </a:xfrm>
          <a:prstGeom prst="frame">
            <a:avLst>
              <a:gd name="adj1" fmla="val 352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3" name="ZoneTexte 52">
            <a:extLst>
              <a:ext uri="{FF2B5EF4-FFF2-40B4-BE49-F238E27FC236}">
                <a16:creationId xmlns:a16="http://schemas.microsoft.com/office/drawing/2014/main" id="{F02EA96D-D9BE-CAD2-BD50-DBABA2B1084C}"/>
              </a:ext>
            </a:extLst>
          </p:cNvPr>
          <p:cNvSpPr txBox="1"/>
          <p:nvPr/>
        </p:nvSpPr>
        <p:spPr>
          <a:xfrm>
            <a:off x="44387" y="5428905"/>
            <a:ext cx="2266774" cy="400110"/>
          </a:xfrm>
          <a:prstGeom prst="rect">
            <a:avLst/>
          </a:prstGeom>
          <a:noFill/>
        </p:spPr>
        <p:txBody>
          <a:bodyPr wrap="none" rtlCol="0">
            <a:spAutoFit/>
          </a:bodyPr>
          <a:lstStyle/>
          <a:p>
            <a:pPr algn="ctr"/>
            <a:r>
              <a:rPr lang="fr-FR" sz="2000" b="1" dirty="0"/>
              <a:t>Prolonger la visite</a:t>
            </a:r>
          </a:p>
        </p:txBody>
      </p:sp>
      <p:sp>
        <p:nvSpPr>
          <p:cNvPr id="55" name="ZoneTexte 54">
            <a:extLst>
              <a:ext uri="{FF2B5EF4-FFF2-40B4-BE49-F238E27FC236}">
                <a16:creationId xmlns:a16="http://schemas.microsoft.com/office/drawing/2014/main" id="{FCB8A484-1A3D-D070-ED9D-3B69286D7914}"/>
              </a:ext>
            </a:extLst>
          </p:cNvPr>
          <p:cNvSpPr txBox="1"/>
          <p:nvPr/>
        </p:nvSpPr>
        <p:spPr>
          <a:xfrm>
            <a:off x="2636004" y="5428905"/>
            <a:ext cx="2791726" cy="400110"/>
          </a:xfrm>
          <a:prstGeom prst="rect">
            <a:avLst/>
          </a:prstGeom>
          <a:noFill/>
        </p:spPr>
        <p:txBody>
          <a:bodyPr wrap="none" rtlCol="0">
            <a:spAutoFit/>
          </a:bodyPr>
          <a:lstStyle/>
          <a:p>
            <a:pPr algn="ctr"/>
            <a:r>
              <a:rPr lang="fr-FR" sz="2000" b="1" dirty="0"/>
              <a:t>Faire grimper notre CA</a:t>
            </a:r>
          </a:p>
        </p:txBody>
      </p:sp>
    </p:spTree>
    <p:extLst>
      <p:ext uri="{BB962C8B-B14F-4D97-AF65-F5344CB8AC3E}">
        <p14:creationId xmlns:p14="http://schemas.microsoft.com/office/powerpoint/2010/main" val="45491098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8724-7FE5-C64D-2463-B455109A4FCB}"/>
            </a:ext>
          </a:extLst>
        </p:cNvPr>
        <p:cNvGrpSpPr/>
        <p:nvPr/>
      </p:nvGrpSpPr>
      <p:grpSpPr>
        <a:xfrm>
          <a:off x="0" y="0"/>
          <a:ext cx="0" cy="0"/>
          <a:chOff x="0" y="0"/>
          <a:chExt cx="0" cy="0"/>
        </a:xfrm>
      </p:grpSpPr>
      <p:sp>
        <p:nvSpPr>
          <p:cNvPr id="87" name="Flèche vers le bas 86">
            <a:extLst>
              <a:ext uri="{FF2B5EF4-FFF2-40B4-BE49-F238E27FC236}">
                <a16:creationId xmlns:a16="http://schemas.microsoft.com/office/drawing/2014/main" id="{9CDABDFC-FD83-501F-37CA-13668F6C6B8A}"/>
              </a:ext>
            </a:extLst>
          </p:cNvPr>
          <p:cNvSpPr/>
          <p:nvPr/>
        </p:nvSpPr>
        <p:spPr>
          <a:xfrm>
            <a:off x="9314065" y="1799233"/>
            <a:ext cx="237488" cy="3467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 name="Espace réservé du contenu 4" descr="Une image contenant texte, diagramme, capture d’écran, Plan&#10;&#10;Le contenu généré par l’IA peut être incorrect.">
            <a:extLst>
              <a:ext uri="{FF2B5EF4-FFF2-40B4-BE49-F238E27FC236}">
                <a16:creationId xmlns:a16="http://schemas.microsoft.com/office/drawing/2014/main" id="{2DE9612D-2181-E785-719C-281E61BEF106}"/>
              </a:ext>
            </a:extLst>
          </p:cNvPr>
          <p:cNvPicPr>
            <a:picLocks noGrp="1" noChangeAspect="1"/>
          </p:cNvPicPr>
          <p:nvPr>
            <p:ph idx="1"/>
          </p:nvPr>
        </p:nvPicPr>
        <p:blipFill>
          <a:blip r:embed="rId3"/>
          <a:stretch>
            <a:fillRect/>
          </a:stretch>
        </p:blipFill>
        <p:spPr>
          <a:xfrm>
            <a:off x="0" y="1488011"/>
            <a:ext cx="7446240" cy="5364201"/>
          </a:xfrm>
        </p:spPr>
      </p:pic>
      <p:sp>
        <p:nvSpPr>
          <p:cNvPr id="2" name="Titre 1">
            <a:extLst>
              <a:ext uri="{FF2B5EF4-FFF2-40B4-BE49-F238E27FC236}">
                <a16:creationId xmlns:a16="http://schemas.microsoft.com/office/drawing/2014/main" id="{CC2B4D49-B51B-4723-5242-FF5B16F882DB}"/>
              </a:ext>
            </a:extLst>
          </p:cNvPr>
          <p:cNvSpPr>
            <a:spLocks noGrp="1"/>
          </p:cNvSpPr>
          <p:nvPr>
            <p:ph type="title"/>
          </p:nvPr>
        </p:nvSpPr>
        <p:spPr>
          <a:xfrm>
            <a:off x="365938" y="405634"/>
            <a:ext cx="5326736" cy="331002"/>
          </a:xfrm>
        </p:spPr>
        <p:txBody>
          <a:bodyPr>
            <a:noAutofit/>
          </a:bodyPr>
          <a:lstStyle/>
          <a:p>
            <a:pPr algn="ctr"/>
            <a:r>
              <a:rPr lang="fr-FR" sz="2400" b="1" dirty="0"/>
              <a:t>Anticiper la diversité pour atteindre et dépasser nos objectifs</a:t>
            </a:r>
          </a:p>
        </p:txBody>
      </p:sp>
      <p:pic>
        <p:nvPicPr>
          <p:cNvPr id="6" name="Image 5">
            <a:extLst>
              <a:ext uri="{FF2B5EF4-FFF2-40B4-BE49-F238E27FC236}">
                <a16:creationId xmlns:a16="http://schemas.microsoft.com/office/drawing/2014/main" id="{47C69286-6A85-400F-DFAC-ED3516F4CCD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
        <p:nvSpPr>
          <p:cNvPr id="44" name="ZoneTexte 43">
            <a:extLst>
              <a:ext uri="{FF2B5EF4-FFF2-40B4-BE49-F238E27FC236}">
                <a16:creationId xmlns:a16="http://schemas.microsoft.com/office/drawing/2014/main" id="{D5BB5D72-5191-BFE8-B9AA-C6F40E507B2B}"/>
              </a:ext>
            </a:extLst>
          </p:cNvPr>
          <p:cNvSpPr txBox="1"/>
          <p:nvPr/>
        </p:nvSpPr>
        <p:spPr>
          <a:xfrm>
            <a:off x="7477531" y="2045281"/>
            <a:ext cx="3379808" cy="1323439"/>
          </a:xfrm>
          <a:prstGeom prst="rect">
            <a:avLst/>
          </a:prstGeom>
          <a:noFill/>
        </p:spPr>
        <p:txBody>
          <a:bodyPr wrap="square" rtlCol="0" anchor="ctr">
            <a:spAutoFit/>
          </a:bodyPr>
          <a:lstStyle/>
          <a:p>
            <a:pPr algn="ctr"/>
            <a:r>
              <a:rPr lang="fr-FR" sz="1600" b="1" dirty="0"/>
              <a:t>2 profils client :</a:t>
            </a:r>
            <a:br>
              <a:rPr lang="fr-FR" sz="1600" b="1" dirty="0"/>
            </a:br>
            <a:r>
              <a:rPr lang="fr-FR" sz="1600" b="1" dirty="0"/>
              <a:t>- clients rapides </a:t>
            </a:r>
            <a:r>
              <a:rPr lang="fr-FR" sz="1600" dirty="0"/>
              <a:t>achètent en 4 minutes </a:t>
            </a:r>
          </a:p>
          <a:p>
            <a:pPr algn="ctr"/>
            <a:r>
              <a:rPr lang="fr-FR" sz="1600" b="1" dirty="0"/>
              <a:t>- Explorateurs </a:t>
            </a:r>
            <a:r>
              <a:rPr lang="fr-FR" sz="1600" dirty="0"/>
              <a:t>prennent 10 minutes pour découvrir </a:t>
            </a:r>
            <a:endParaRPr lang="fr-FR" sz="1600" b="1" dirty="0"/>
          </a:p>
        </p:txBody>
      </p:sp>
      <p:sp>
        <p:nvSpPr>
          <p:cNvPr id="4" name="Cadre 3">
            <a:extLst>
              <a:ext uri="{FF2B5EF4-FFF2-40B4-BE49-F238E27FC236}">
                <a16:creationId xmlns:a16="http://schemas.microsoft.com/office/drawing/2014/main" id="{31AC2701-4B3A-4D8B-BF50-9CDFBCCC3996}"/>
              </a:ext>
            </a:extLst>
          </p:cNvPr>
          <p:cNvSpPr/>
          <p:nvPr/>
        </p:nvSpPr>
        <p:spPr>
          <a:xfrm>
            <a:off x="7399015" y="0"/>
            <a:ext cx="4115747" cy="1830258"/>
          </a:xfrm>
          <a:prstGeom prst="frame">
            <a:avLst>
              <a:gd name="adj1" fmla="val 377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BC1100"/>
              </a:solidFill>
            </a:endParaRPr>
          </a:p>
        </p:txBody>
      </p:sp>
      <p:sp>
        <p:nvSpPr>
          <p:cNvPr id="50" name="ZoneTexte 49">
            <a:extLst>
              <a:ext uri="{FF2B5EF4-FFF2-40B4-BE49-F238E27FC236}">
                <a16:creationId xmlns:a16="http://schemas.microsoft.com/office/drawing/2014/main" id="{085DCE00-6467-3EA4-7AB8-68217BD936BC}"/>
              </a:ext>
            </a:extLst>
          </p:cNvPr>
          <p:cNvSpPr txBox="1"/>
          <p:nvPr/>
        </p:nvSpPr>
        <p:spPr>
          <a:xfrm>
            <a:off x="7778899" y="3625077"/>
            <a:ext cx="3153620" cy="338554"/>
          </a:xfrm>
          <a:prstGeom prst="rect">
            <a:avLst/>
          </a:prstGeom>
          <a:noFill/>
        </p:spPr>
        <p:txBody>
          <a:bodyPr wrap="none" rtlCol="0">
            <a:spAutoFit/>
          </a:bodyPr>
          <a:lstStyle/>
          <a:p>
            <a:r>
              <a:rPr lang="fr-FR" sz="1600" b="1" dirty="0">
                <a:highlight>
                  <a:srgbClr val="00FF00"/>
                </a:highlight>
              </a:rPr>
              <a:t>Ma suggestion d’axe stratégique</a:t>
            </a:r>
          </a:p>
        </p:txBody>
      </p:sp>
      <p:sp>
        <p:nvSpPr>
          <p:cNvPr id="55" name="ZoneTexte 54">
            <a:extLst>
              <a:ext uri="{FF2B5EF4-FFF2-40B4-BE49-F238E27FC236}">
                <a16:creationId xmlns:a16="http://schemas.microsoft.com/office/drawing/2014/main" id="{1FD12737-CBE9-F26F-8A4D-D2B295950438}"/>
              </a:ext>
            </a:extLst>
          </p:cNvPr>
          <p:cNvSpPr txBox="1"/>
          <p:nvPr/>
        </p:nvSpPr>
        <p:spPr>
          <a:xfrm>
            <a:off x="7477531" y="4961346"/>
            <a:ext cx="4271058" cy="584775"/>
          </a:xfrm>
          <a:prstGeom prst="rect">
            <a:avLst/>
          </a:prstGeom>
          <a:noFill/>
        </p:spPr>
        <p:txBody>
          <a:bodyPr wrap="square" rtlCol="0">
            <a:spAutoFit/>
          </a:bodyPr>
          <a:lstStyle/>
          <a:p>
            <a:pPr algn="ctr"/>
            <a:r>
              <a:rPr lang="fr-FR" sz="1600" dirty="0"/>
              <a:t>Une </a:t>
            </a:r>
            <a:r>
              <a:rPr lang="fr-FR" sz="1600" b="1" dirty="0"/>
              <a:t>voie Rapide"</a:t>
            </a:r>
            <a:r>
              <a:rPr lang="fr-FR" sz="1600" dirty="0"/>
              <a:t> (type abonnement) pour sécuriser les achats récurrents.</a:t>
            </a:r>
          </a:p>
        </p:txBody>
      </p:sp>
      <p:sp>
        <p:nvSpPr>
          <p:cNvPr id="66" name="ZoneTexte 65">
            <a:extLst>
              <a:ext uri="{FF2B5EF4-FFF2-40B4-BE49-F238E27FC236}">
                <a16:creationId xmlns:a16="http://schemas.microsoft.com/office/drawing/2014/main" id="{19F024D8-3B08-B6A1-FF93-F63E58B4ADCD}"/>
              </a:ext>
            </a:extLst>
          </p:cNvPr>
          <p:cNvSpPr txBox="1"/>
          <p:nvPr/>
        </p:nvSpPr>
        <p:spPr>
          <a:xfrm>
            <a:off x="7477531" y="4130349"/>
            <a:ext cx="4148044" cy="830997"/>
          </a:xfrm>
          <a:prstGeom prst="rect">
            <a:avLst/>
          </a:prstGeom>
          <a:noFill/>
        </p:spPr>
        <p:txBody>
          <a:bodyPr wrap="square" rtlCol="0">
            <a:spAutoFit/>
          </a:bodyPr>
          <a:lstStyle/>
          <a:p>
            <a:pPr algn="ctr"/>
            <a:r>
              <a:rPr lang="fr-FR" sz="1600" dirty="0"/>
              <a:t>Une </a:t>
            </a:r>
            <a:r>
              <a:rPr lang="fr-FR" sz="1600" b="1" dirty="0"/>
              <a:t>voie d’ “Inspiration“</a:t>
            </a:r>
            <a:r>
              <a:rPr lang="fr-FR" sz="1600" dirty="0"/>
              <a:t> (recettes, suggestions) pour faire grimper le panier des explorateurs.</a:t>
            </a:r>
          </a:p>
        </p:txBody>
      </p:sp>
      <p:sp>
        <p:nvSpPr>
          <p:cNvPr id="69" name="ZoneTexte 68">
            <a:extLst>
              <a:ext uri="{FF2B5EF4-FFF2-40B4-BE49-F238E27FC236}">
                <a16:creationId xmlns:a16="http://schemas.microsoft.com/office/drawing/2014/main" id="{735D6B34-5243-D61B-2779-A3C74C35DB49}"/>
              </a:ext>
            </a:extLst>
          </p:cNvPr>
          <p:cNvSpPr txBox="1"/>
          <p:nvPr/>
        </p:nvSpPr>
        <p:spPr>
          <a:xfrm>
            <a:off x="969064" y="1726150"/>
            <a:ext cx="5508111" cy="338554"/>
          </a:xfrm>
          <a:prstGeom prst="rect">
            <a:avLst/>
          </a:prstGeom>
          <a:noFill/>
        </p:spPr>
        <p:txBody>
          <a:bodyPr wrap="none" rtlCol="0">
            <a:spAutoFit/>
          </a:bodyPr>
          <a:lstStyle/>
          <a:p>
            <a:r>
              <a:rPr lang="fr-FR" sz="1600" b="1" dirty="0"/>
              <a:t>Evolution du temps passé par les visiteurs sur le site web </a:t>
            </a:r>
            <a:endParaRPr lang="fr-FR" sz="1600" dirty="0"/>
          </a:p>
        </p:txBody>
      </p:sp>
      <p:sp>
        <p:nvSpPr>
          <p:cNvPr id="72" name="ZoneTexte 71">
            <a:extLst>
              <a:ext uri="{FF2B5EF4-FFF2-40B4-BE49-F238E27FC236}">
                <a16:creationId xmlns:a16="http://schemas.microsoft.com/office/drawing/2014/main" id="{60CDF33E-919D-5820-F0E9-1F2732B21EE9}"/>
              </a:ext>
            </a:extLst>
          </p:cNvPr>
          <p:cNvSpPr txBox="1"/>
          <p:nvPr/>
        </p:nvSpPr>
        <p:spPr>
          <a:xfrm>
            <a:off x="7399015" y="730253"/>
            <a:ext cx="4067588" cy="584775"/>
          </a:xfrm>
          <a:prstGeom prst="rect">
            <a:avLst/>
          </a:prstGeom>
          <a:noFill/>
        </p:spPr>
        <p:txBody>
          <a:bodyPr wrap="square" rtlCol="0">
            <a:spAutoFit/>
          </a:bodyPr>
          <a:lstStyle/>
          <a:p>
            <a:pPr algn="ctr"/>
            <a:r>
              <a:rPr lang="fr-FR" sz="1600" b="1" dirty="0"/>
              <a:t>Chaque mois, la boite et les moustaches s’étirent</a:t>
            </a:r>
          </a:p>
        </p:txBody>
      </p:sp>
      <p:sp>
        <p:nvSpPr>
          <p:cNvPr id="79" name="ZoneTexte 78">
            <a:extLst>
              <a:ext uri="{FF2B5EF4-FFF2-40B4-BE49-F238E27FC236}">
                <a16:creationId xmlns:a16="http://schemas.microsoft.com/office/drawing/2014/main" id="{47C66763-EAE1-5DF4-C86B-FE6177E66929}"/>
              </a:ext>
            </a:extLst>
          </p:cNvPr>
          <p:cNvSpPr txBox="1"/>
          <p:nvPr/>
        </p:nvSpPr>
        <p:spPr>
          <a:xfrm>
            <a:off x="7469455" y="1203365"/>
            <a:ext cx="3978269" cy="584775"/>
          </a:xfrm>
          <a:prstGeom prst="rect">
            <a:avLst/>
          </a:prstGeom>
          <a:noFill/>
        </p:spPr>
        <p:txBody>
          <a:bodyPr wrap="none" rtlCol="0">
            <a:spAutoFit/>
          </a:bodyPr>
          <a:lstStyle/>
          <a:p>
            <a:pPr algn="ctr"/>
            <a:r>
              <a:rPr lang="fr-FR" sz="1600" b="1" dirty="0"/>
              <a:t>Distance entre le client le plus rapide </a:t>
            </a:r>
            <a:br>
              <a:rPr lang="fr-FR" sz="1600" b="1" dirty="0"/>
            </a:br>
            <a:r>
              <a:rPr lang="fr-FR" sz="1600" b="1" dirty="0"/>
              <a:t>et le client le plus explorateur augmente.</a:t>
            </a:r>
          </a:p>
        </p:txBody>
      </p:sp>
      <p:sp>
        <p:nvSpPr>
          <p:cNvPr id="7" name="ZoneTexte 6">
            <a:extLst>
              <a:ext uri="{FF2B5EF4-FFF2-40B4-BE49-F238E27FC236}">
                <a16:creationId xmlns:a16="http://schemas.microsoft.com/office/drawing/2014/main" id="{7A8238D0-6F0D-8074-91B3-D524C72FBBF1}"/>
              </a:ext>
            </a:extLst>
          </p:cNvPr>
          <p:cNvSpPr txBox="1"/>
          <p:nvPr/>
        </p:nvSpPr>
        <p:spPr>
          <a:xfrm>
            <a:off x="7469455" y="221092"/>
            <a:ext cx="3772508" cy="584775"/>
          </a:xfrm>
          <a:prstGeom prst="rect">
            <a:avLst/>
          </a:prstGeom>
          <a:noFill/>
        </p:spPr>
        <p:txBody>
          <a:bodyPr wrap="none" rtlCol="0">
            <a:spAutoFit/>
          </a:bodyPr>
          <a:lstStyle/>
          <a:p>
            <a:pPr algn="ctr"/>
            <a:r>
              <a:rPr lang="fr-FR" sz="1600" b="1" dirty="0"/>
              <a:t>La Médiane passe légèrement sous les</a:t>
            </a:r>
            <a:endParaRPr lang="fr-FR" sz="1600" dirty="0"/>
          </a:p>
          <a:p>
            <a:pPr algn="ctr"/>
            <a:r>
              <a:rPr lang="fr-FR" sz="1600" b="1" dirty="0"/>
              <a:t>7 minutes</a:t>
            </a:r>
          </a:p>
        </p:txBody>
      </p:sp>
    </p:spTree>
    <p:extLst>
      <p:ext uri="{BB962C8B-B14F-4D97-AF65-F5344CB8AC3E}">
        <p14:creationId xmlns:p14="http://schemas.microsoft.com/office/powerpoint/2010/main" val="414094698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5F6165B-903C-1979-048E-CF3F318B6CF5}"/>
              </a:ext>
            </a:extLst>
          </p:cNvPr>
          <p:cNvSpPr>
            <a:spLocks noGrp="1"/>
          </p:cNvSpPr>
          <p:nvPr>
            <p:ph type="title"/>
          </p:nvPr>
        </p:nvSpPr>
        <p:spPr>
          <a:xfrm>
            <a:off x="586478" y="1683756"/>
            <a:ext cx="3115265" cy="2396359"/>
          </a:xfrm>
        </p:spPr>
        <p:txBody>
          <a:bodyPr vert="horz" lIns="91440" tIns="45720" rIns="91440" bIns="45720" rtlCol="0" anchor="b">
            <a:normAutofit/>
          </a:bodyPr>
          <a:lstStyle/>
          <a:p>
            <a:pPr algn="r"/>
            <a:r>
              <a:rPr lang="en-US" sz="4000" kern="1200" dirty="0">
                <a:solidFill>
                  <a:srgbClr val="FFFFFF"/>
                </a:solidFill>
                <a:latin typeface="+mj-lt"/>
                <a:ea typeface="+mj-ea"/>
                <a:cs typeface="+mj-cs"/>
              </a:rPr>
              <a:t>Conclusion Finale </a:t>
            </a:r>
          </a:p>
        </p:txBody>
      </p:sp>
      <p:sp>
        <p:nvSpPr>
          <p:cNvPr id="5" name="Espace réservé du contenu 2">
            <a:extLst>
              <a:ext uri="{FF2B5EF4-FFF2-40B4-BE49-F238E27FC236}">
                <a16:creationId xmlns:a16="http://schemas.microsoft.com/office/drawing/2014/main" id="{993F8DF0-26D9-D248-DB00-B959B78152E1}"/>
              </a:ext>
            </a:extLst>
          </p:cNvPr>
          <p:cNvSpPr txBox="1">
            <a:spLocks/>
          </p:cNvSpPr>
          <p:nvPr/>
        </p:nvSpPr>
        <p:spPr>
          <a:xfrm>
            <a:off x="1240076" y="3557392"/>
            <a:ext cx="5292791" cy="40447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endParaRPr lang="fr-FR" dirty="0"/>
          </a:p>
        </p:txBody>
      </p:sp>
      <p:sp>
        <p:nvSpPr>
          <p:cNvPr id="6" name="Espace réservé du contenu 2">
            <a:extLst>
              <a:ext uri="{FF2B5EF4-FFF2-40B4-BE49-F238E27FC236}">
                <a16:creationId xmlns:a16="http://schemas.microsoft.com/office/drawing/2014/main" id="{92FF88F9-1187-4D4D-92D4-34FC2C8445F2}"/>
              </a:ext>
            </a:extLst>
          </p:cNvPr>
          <p:cNvSpPr txBox="1">
            <a:spLocks/>
          </p:cNvSpPr>
          <p:nvPr/>
        </p:nvSpPr>
        <p:spPr>
          <a:xfrm>
            <a:off x="1162333" y="2690965"/>
            <a:ext cx="6172200" cy="4873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endParaRPr lang="fr-FR" dirty="0"/>
          </a:p>
        </p:txBody>
      </p:sp>
      <p:graphicFrame>
        <p:nvGraphicFramePr>
          <p:cNvPr id="17" name="Espace réservé du contenu 2">
            <a:extLst>
              <a:ext uri="{FF2B5EF4-FFF2-40B4-BE49-F238E27FC236}">
                <a16:creationId xmlns:a16="http://schemas.microsoft.com/office/drawing/2014/main" id="{A2712068-C219-3A6A-7740-05467A533A6A}"/>
              </a:ext>
            </a:extLst>
          </p:cNvPr>
          <p:cNvGraphicFramePr/>
          <p:nvPr>
            <p:extLst>
              <p:ext uri="{D42A27DB-BD31-4B8C-83A1-F6EECF244321}">
                <p14:modId xmlns:p14="http://schemas.microsoft.com/office/powerpoint/2010/main" val="170854234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9" name="Image 18">
            <a:extLst>
              <a:ext uri="{FF2B5EF4-FFF2-40B4-BE49-F238E27FC236}">
                <a16:creationId xmlns:a16="http://schemas.microsoft.com/office/drawing/2014/main" id="{AD2198FB-AFE6-E2D1-0329-4563988C1D99}"/>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65805" y="5609419"/>
            <a:ext cx="5741284" cy="2151918"/>
          </a:xfrm>
          <a:prstGeom prst="rect">
            <a:avLst/>
          </a:prstGeom>
        </p:spPr>
      </p:pic>
    </p:spTree>
    <p:extLst>
      <p:ext uri="{BB962C8B-B14F-4D97-AF65-F5344CB8AC3E}">
        <p14:creationId xmlns:p14="http://schemas.microsoft.com/office/powerpoint/2010/main" val="91060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6D32FAF5-CA6A-3F03-0E85-8C5307AC8F9F}"/>
              </a:ext>
            </a:extLst>
          </p:cNvPr>
          <p:cNvSpPr>
            <a:spLocks noGrp="1"/>
          </p:cNvSpPr>
          <p:nvPr>
            <p:ph type="ctrTitle"/>
          </p:nvPr>
        </p:nvSpPr>
        <p:spPr>
          <a:xfrm>
            <a:off x="660042" y="891652"/>
            <a:ext cx="4412021" cy="3030724"/>
          </a:xfrm>
        </p:spPr>
        <p:txBody>
          <a:bodyPr anchor="b">
            <a:normAutofit/>
          </a:bodyPr>
          <a:lstStyle/>
          <a:p>
            <a:pPr algn="r"/>
            <a:r>
              <a:rPr lang="fr-FR" sz="4000">
                <a:solidFill>
                  <a:srgbClr val="FFFFFF"/>
                </a:solidFill>
                <a:latin typeface="Gill Sans MT" panose="020B0502020104020203" pitchFamily="34" charset="0"/>
              </a:rPr>
              <a:t>Merci pour votre attention</a:t>
            </a:r>
            <a:endParaRPr lang="fr-FR" sz="4000">
              <a:solidFill>
                <a:srgbClr val="FFFFFF"/>
              </a:solidFill>
            </a:endParaRPr>
          </a:p>
        </p:txBody>
      </p:sp>
      <p:pic>
        <p:nvPicPr>
          <p:cNvPr id="4" name="Image 3">
            <a:extLst>
              <a:ext uri="{FF2B5EF4-FFF2-40B4-BE49-F238E27FC236}">
                <a16:creationId xmlns:a16="http://schemas.microsoft.com/office/drawing/2014/main" id="{11324092-3C76-80D7-DA29-37949453A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347" y="1982253"/>
            <a:ext cx="6602888" cy="2476082"/>
          </a:xfrm>
          <a:prstGeom prst="rect">
            <a:avLst/>
          </a:prstGeom>
        </p:spPr>
      </p:pic>
    </p:spTree>
    <p:extLst>
      <p:ext uri="{BB962C8B-B14F-4D97-AF65-F5344CB8AC3E}">
        <p14:creationId xmlns:p14="http://schemas.microsoft.com/office/powerpoint/2010/main" val="604920296"/>
      </p:ext>
    </p:extLst>
  </p:cSld>
  <p:clrMapOvr>
    <a:masterClrMapping/>
  </p:clrMapOvr>
  <p:transition spd="slow">
    <p:push dir="u"/>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7197</TotalTime>
  <Words>1526</Words>
  <Application>Microsoft Macintosh PowerPoint</Application>
  <PresentationFormat>Grand écran</PresentationFormat>
  <Paragraphs>91</Paragraphs>
  <Slides>9</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Aptos</vt:lpstr>
      <vt:lpstr>Aptos Display</vt:lpstr>
      <vt:lpstr>Arial</vt:lpstr>
      <vt:lpstr>Gill Sans MT</vt:lpstr>
      <vt:lpstr>Thème Office</vt:lpstr>
      <vt:lpstr>Rapport Mensuel des Actions Marketing</vt:lpstr>
      <vt:lpstr>Sommaire</vt:lpstr>
      <vt:lpstr>Notre nouveau cap : L'alimentation comme moteur principal</vt:lpstr>
      <vt:lpstr>Changement de dimension :  une visibilité multipliée par 30</vt:lpstr>
      <vt:lpstr>Efficacité : une performance au-dessus des standards du marché</vt:lpstr>
      <vt:lpstr>Comportement d'achat : le temps est le moteur de notre panier.</vt:lpstr>
      <vt:lpstr>Anticiper la diversité pour atteindre et dépasser nos objectifs</vt:lpstr>
      <vt:lpstr>Conclusion Finale </vt:lpstr>
      <vt:lpstr>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helton dos santos</dc:creator>
  <cp:lastModifiedBy>helton dos santos</cp:lastModifiedBy>
  <cp:revision>34</cp:revision>
  <dcterms:created xsi:type="dcterms:W3CDTF">2026-01-22T18:24:18Z</dcterms:created>
  <dcterms:modified xsi:type="dcterms:W3CDTF">2026-01-29T21:19:56Z</dcterms:modified>
</cp:coreProperties>
</file>